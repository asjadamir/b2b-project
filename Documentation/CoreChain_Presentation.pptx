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 name="Google Shape;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 name="Google Shape;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 name="Google Shape;5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 name="Google Shape;7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 name="Google Shape;28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6.jpg"/></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F3D"/>
        </a:solidFill>
        <a:effectLst/>
      </p:bgPr>
    </p:bg>
    <p:spTree>
      <p:nvGrpSpPr>
        <p:cNvPr id="1" name="Shape 15"/>
        <p:cNvGrpSpPr/>
        <p:nvPr/>
      </p:nvGrpSpPr>
      <p:grpSpPr>
        <a:xfrm>
          <a:off x="0" y="0"/>
          <a:ext cx="0" cy="0"/>
          <a:chOff x="0" y="0"/>
          <a:chExt cx="0" cy="0"/>
        </a:xfrm>
      </p:grpSpPr>
      <p:sp>
        <p:nvSpPr>
          <p:cNvPr id="16" name="Google Shape;16;p3"/>
          <p:cNvSpPr/>
          <p:nvPr/>
        </p:nvSpPr>
        <p:spPr>
          <a:xfrm>
            <a:off x="0" y="0"/>
            <a:ext cx="3474720" cy="514350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0" y="0"/>
            <a:ext cx="201168" cy="51435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8;p3" descr="preencoded.png"/>
          <p:cNvPicPr preferRelativeResize="0"/>
          <p:nvPr/>
        </p:nvPicPr>
        <p:blipFill rotWithShape="1">
          <a:blip r:embed="rId3">
            <a:alphaModFix/>
          </a:blip>
          <a:srcRect/>
          <a:stretch/>
        </p:blipFill>
        <p:spPr>
          <a:xfrm>
            <a:off x="1005840" y="1463040"/>
            <a:ext cx="1463040" cy="1463040"/>
          </a:xfrm>
          <a:prstGeom prst="rect">
            <a:avLst/>
          </a:prstGeom>
          <a:noFill/>
          <a:ln>
            <a:noFill/>
          </a:ln>
        </p:spPr>
      </p:pic>
      <p:sp>
        <p:nvSpPr>
          <p:cNvPr id="19" name="Google Shape;19;p3"/>
          <p:cNvSpPr/>
          <p:nvPr/>
        </p:nvSpPr>
        <p:spPr>
          <a:xfrm>
            <a:off x="3840480" y="960120"/>
            <a:ext cx="5029200" cy="10058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5200"/>
              <a:buFont typeface="Calibri"/>
              <a:buNone/>
            </a:pPr>
            <a:r>
              <a:rPr lang="en-US" sz="5200" b="1" i="0" u="none" strike="noStrike" cap="none">
                <a:solidFill>
                  <a:srgbClr val="FFFFFF"/>
                </a:solidFill>
                <a:latin typeface="Calibri"/>
                <a:ea typeface="Calibri"/>
                <a:cs typeface="Calibri"/>
                <a:sym typeface="Calibri"/>
              </a:rPr>
              <a:t>CoreChain</a:t>
            </a:r>
            <a:endParaRPr sz="5200" b="0" i="0" u="none" strike="noStrike" cap="none">
              <a:solidFill>
                <a:schemeClr val="dk1"/>
              </a:solidFill>
              <a:latin typeface="Calibri"/>
              <a:ea typeface="Calibri"/>
              <a:cs typeface="Calibri"/>
              <a:sym typeface="Calibri"/>
            </a:endParaRPr>
          </a:p>
        </p:txBody>
      </p:sp>
      <p:sp>
        <p:nvSpPr>
          <p:cNvPr id="20" name="Google Shape;20;p3"/>
          <p:cNvSpPr/>
          <p:nvPr/>
        </p:nvSpPr>
        <p:spPr>
          <a:xfrm>
            <a:off x="3840480" y="2011680"/>
            <a:ext cx="5029200" cy="914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4B8A6"/>
              </a:buClr>
              <a:buSzPts val="1900"/>
              <a:buFont typeface="Calibri"/>
              <a:buNone/>
            </a:pPr>
            <a:r>
              <a:rPr lang="en-US" sz="1900" b="0" i="0" u="none" strike="noStrike" cap="none">
                <a:solidFill>
                  <a:srgbClr val="14B8A6"/>
                </a:solidFill>
                <a:latin typeface="Calibri"/>
                <a:ea typeface="Calibri"/>
                <a:cs typeface="Calibri"/>
                <a:sym typeface="Calibri"/>
              </a:rPr>
              <a:t>B2B Inventory &amp; Supply Chain</a:t>
            </a:r>
            <a:endParaRPr sz="19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4B8A6"/>
              </a:buClr>
              <a:buSzPts val="1900"/>
              <a:buFont typeface="Calibri"/>
              <a:buNone/>
            </a:pPr>
            <a:r>
              <a:rPr lang="en-US" sz="1900" b="0" i="0" u="none" strike="noStrike" cap="none">
                <a:solidFill>
                  <a:srgbClr val="14B8A6"/>
                </a:solidFill>
                <a:latin typeface="Calibri"/>
                <a:ea typeface="Calibri"/>
                <a:cs typeface="Calibri"/>
                <a:sym typeface="Calibri"/>
              </a:rPr>
              <a:t>Management System</a:t>
            </a:r>
            <a:endParaRPr sz="1900" b="0" i="0" u="none" strike="noStrike" cap="none">
              <a:solidFill>
                <a:schemeClr val="dk1"/>
              </a:solidFill>
              <a:latin typeface="Calibri"/>
              <a:ea typeface="Calibri"/>
              <a:cs typeface="Calibri"/>
              <a:sym typeface="Calibri"/>
            </a:endParaRPr>
          </a:p>
        </p:txBody>
      </p:sp>
      <p:sp>
        <p:nvSpPr>
          <p:cNvPr id="21" name="Google Shape;21;p3"/>
          <p:cNvSpPr/>
          <p:nvPr/>
        </p:nvSpPr>
        <p:spPr>
          <a:xfrm>
            <a:off x="3840480" y="3017520"/>
            <a:ext cx="4846320" cy="1828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3840480" y="3154680"/>
            <a:ext cx="50292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BD5E1"/>
              </a:buClr>
              <a:buSzPts val="1200"/>
              <a:buFont typeface="Calibri"/>
              <a:buNone/>
            </a:pPr>
            <a:r>
              <a:rPr lang="en-US" sz="1200" b="0" i="0" u="none" strike="noStrike" cap="none">
                <a:solidFill>
                  <a:srgbClr val="CBD5E1"/>
                </a:solidFill>
                <a:latin typeface="Calibri"/>
                <a:ea typeface="Calibri"/>
                <a:cs typeface="Calibri"/>
                <a:sym typeface="Calibri"/>
              </a:rPr>
              <a:t>Muhammad Asjad  ·  Hamza Sheikh  ·  M. Abuzar Rizwan</a:t>
            </a:r>
            <a:endParaRPr sz="1200" b="0" i="0" u="none" strike="noStrike" cap="none">
              <a:solidFill>
                <a:schemeClr val="dk1"/>
              </a:solidFill>
              <a:latin typeface="Calibri"/>
              <a:ea typeface="Calibri"/>
              <a:cs typeface="Calibri"/>
              <a:sym typeface="Calibri"/>
            </a:endParaRPr>
          </a:p>
        </p:txBody>
      </p:sp>
      <p:sp>
        <p:nvSpPr>
          <p:cNvPr id="23" name="Google Shape;23;p3"/>
          <p:cNvSpPr/>
          <p:nvPr/>
        </p:nvSpPr>
        <p:spPr>
          <a:xfrm>
            <a:off x="3840480" y="3547872"/>
            <a:ext cx="50292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100"/>
              <a:buFont typeface="Calibri"/>
              <a:buNone/>
            </a:pPr>
            <a:r>
              <a:rPr lang="en-US" sz="1100" b="0" i="0" u="none" strike="noStrike" cap="none" dirty="0">
                <a:solidFill>
                  <a:srgbClr val="64748B"/>
                </a:solidFill>
                <a:latin typeface="Calibri"/>
                <a:ea typeface="Calibri"/>
                <a:cs typeface="Calibri"/>
                <a:sym typeface="Calibri"/>
              </a:rPr>
              <a:t>FAST-NUCES Lahore  ·  FSE   ·  May 2026</a:t>
            </a:r>
            <a:endParaRPr sz="11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
        <p:cNvGrpSpPr/>
        <p:nvPr/>
      </p:nvGrpSpPr>
      <p:grpSpPr>
        <a:xfrm>
          <a:off x="0" y="0"/>
          <a:ext cx="0" cy="0"/>
          <a:chOff x="0" y="0"/>
          <a:chExt cx="0" cy="0"/>
        </a:xfrm>
      </p:grpSpPr>
      <p:sp>
        <p:nvSpPr>
          <p:cNvPr id="29" name="Google Shape;29;p4"/>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31" name="Google Shape;31;p4"/>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a) Project Introduction</a:t>
            </a:r>
            <a:endParaRPr sz="2400" b="0" i="0" u="none" strike="noStrike" cap="none">
              <a:solidFill>
                <a:schemeClr val="dk1"/>
              </a:solidFill>
              <a:latin typeface="Calibri"/>
              <a:ea typeface="Calibri"/>
              <a:cs typeface="Calibri"/>
              <a:sym typeface="Calibri"/>
            </a:endParaRPr>
          </a:p>
        </p:txBody>
      </p:sp>
      <p:sp>
        <p:nvSpPr>
          <p:cNvPr id="32" name="Google Shape;32;p4"/>
          <p:cNvSpPr/>
          <p:nvPr/>
        </p:nvSpPr>
        <p:spPr>
          <a:xfrm>
            <a:off x="274320" y="1463040"/>
            <a:ext cx="4114800" cy="320040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274320" y="1463040"/>
            <a:ext cx="4114800" cy="384048"/>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411480" y="1463040"/>
            <a:ext cx="38404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What is CoreChain?</a:t>
            </a:r>
            <a:endParaRPr sz="1300" b="0" i="0" u="none" strike="noStrike" cap="none">
              <a:solidFill>
                <a:schemeClr val="dk1"/>
              </a:solidFill>
              <a:latin typeface="Calibri"/>
              <a:ea typeface="Calibri"/>
              <a:cs typeface="Calibri"/>
              <a:sym typeface="Calibri"/>
            </a:endParaRPr>
          </a:p>
        </p:txBody>
      </p:sp>
      <p:sp>
        <p:nvSpPr>
          <p:cNvPr id="35" name="Google Shape;35;p4"/>
          <p:cNvSpPr/>
          <p:nvPr/>
        </p:nvSpPr>
        <p:spPr>
          <a:xfrm>
            <a:off x="411480" y="1920240"/>
            <a:ext cx="3840480" cy="26060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A centralized, multi-tenant B2B platform for:</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 Warehouse inventory management</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 Purchase &amp; sale order automation</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 Real-time stock visibility</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 Full audit trail of all actions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 Role-based access control (RBAC)</a:t>
            </a:r>
            <a:endParaRPr sz="1200" b="0" i="0" u="none" strike="noStrike" cap="none">
              <a:solidFill>
                <a:schemeClr val="dk1"/>
              </a:solidFill>
              <a:latin typeface="Calibri"/>
              <a:ea typeface="Calibri"/>
              <a:cs typeface="Calibri"/>
              <a:sym typeface="Calibri"/>
            </a:endParaRPr>
          </a:p>
        </p:txBody>
      </p:sp>
      <p:sp>
        <p:nvSpPr>
          <p:cNvPr id="36" name="Google Shape;36;p4"/>
          <p:cNvSpPr/>
          <p:nvPr/>
        </p:nvSpPr>
        <p:spPr>
          <a:xfrm>
            <a:off x="4663440" y="1463040"/>
            <a:ext cx="4206240" cy="320040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4"/>
          <p:cNvSpPr/>
          <p:nvPr/>
        </p:nvSpPr>
        <p:spPr>
          <a:xfrm>
            <a:off x="4663440" y="1463040"/>
            <a:ext cx="4206240" cy="38404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4800600" y="1463040"/>
            <a:ext cx="39319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Technology Stack</a:t>
            </a:r>
            <a:endParaRPr sz="1300" b="0" i="0" u="none" strike="noStrike" cap="none">
              <a:solidFill>
                <a:schemeClr val="dk1"/>
              </a:solidFill>
              <a:latin typeface="Calibri"/>
              <a:ea typeface="Calibri"/>
              <a:cs typeface="Calibri"/>
              <a:sym typeface="Calibri"/>
            </a:endParaRPr>
          </a:p>
        </p:txBody>
      </p:sp>
      <p:sp>
        <p:nvSpPr>
          <p:cNvPr id="39" name="Google Shape;39;p4"/>
          <p:cNvSpPr/>
          <p:nvPr/>
        </p:nvSpPr>
        <p:spPr>
          <a:xfrm>
            <a:off x="4800600" y="1965960"/>
            <a:ext cx="11887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00"/>
              <a:buFont typeface="Calibri"/>
              <a:buNone/>
            </a:pPr>
            <a:r>
              <a:rPr lang="en-US" sz="1100" b="1" i="0" u="none" strike="noStrike" cap="none">
                <a:solidFill>
                  <a:srgbClr val="1B3A6B"/>
                </a:solidFill>
                <a:latin typeface="Calibri"/>
                <a:ea typeface="Calibri"/>
                <a:cs typeface="Calibri"/>
                <a:sym typeface="Calibri"/>
              </a:rPr>
              <a:t>Backend</a:t>
            </a:r>
            <a:endParaRPr sz="1100" b="0" i="0" u="none" strike="noStrike" cap="none">
              <a:solidFill>
                <a:schemeClr val="dk1"/>
              </a:solidFill>
              <a:latin typeface="Calibri"/>
              <a:ea typeface="Calibri"/>
              <a:cs typeface="Calibri"/>
              <a:sym typeface="Calibri"/>
            </a:endParaRPr>
          </a:p>
        </p:txBody>
      </p:sp>
      <p:sp>
        <p:nvSpPr>
          <p:cNvPr id="40" name="Google Shape;40;p4"/>
          <p:cNvSpPr/>
          <p:nvPr/>
        </p:nvSpPr>
        <p:spPr>
          <a:xfrm>
            <a:off x="6035040" y="1965960"/>
            <a:ext cx="27432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0" i="0" u="none" strike="noStrike" cap="none">
                <a:solidFill>
                  <a:srgbClr val="1E293B"/>
                </a:solidFill>
                <a:latin typeface="Calibri"/>
                <a:ea typeface="Calibri"/>
                <a:cs typeface="Calibri"/>
                <a:sym typeface="Calibri"/>
              </a:rPr>
              <a:t>Node.js, Express.js (MVC)</a:t>
            </a:r>
            <a:endParaRPr sz="1100" b="0" i="0" u="none" strike="noStrike" cap="none">
              <a:solidFill>
                <a:schemeClr val="dk1"/>
              </a:solidFill>
              <a:latin typeface="Calibri"/>
              <a:ea typeface="Calibri"/>
              <a:cs typeface="Calibri"/>
              <a:sym typeface="Calibri"/>
            </a:endParaRPr>
          </a:p>
        </p:txBody>
      </p:sp>
      <p:sp>
        <p:nvSpPr>
          <p:cNvPr id="41" name="Google Shape;41;p4"/>
          <p:cNvSpPr/>
          <p:nvPr/>
        </p:nvSpPr>
        <p:spPr>
          <a:xfrm>
            <a:off x="4800600" y="2478024"/>
            <a:ext cx="11887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00"/>
              <a:buFont typeface="Calibri"/>
              <a:buNone/>
            </a:pPr>
            <a:r>
              <a:rPr lang="en-US" sz="1100" b="1" i="0" u="none" strike="noStrike" cap="none">
                <a:solidFill>
                  <a:srgbClr val="1B3A6B"/>
                </a:solidFill>
                <a:latin typeface="Calibri"/>
                <a:ea typeface="Calibri"/>
                <a:cs typeface="Calibri"/>
                <a:sym typeface="Calibri"/>
              </a:rPr>
              <a:t>Frontend</a:t>
            </a:r>
            <a:endParaRPr sz="1100" b="0" i="0" u="none" strike="noStrike" cap="none">
              <a:solidFill>
                <a:schemeClr val="dk1"/>
              </a:solidFill>
              <a:latin typeface="Calibri"/>
              <a:ea typeface="Calibri"/>
              <a:cs typeface="Calibri"/>
              <a:sym typeface="Calibri"/>
            </a:endParaRPr>
          </a:p>
        </p:txBody>
      </p:sp>
      <p:sp>
        <p:nvSpPr>
          <p:cNvPr id="42" name="Google Shape;42;p4"/>
          <p:cNvSpPr/>
          <p:nvPr/>
        </p:nvSpPr>
        <p:spPr>
          <a:xfrm>
            <a:off x="6035040" y="2478024"/>
            <a:ext cx="27432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0" i="0" u="none" strike="noStrike" cap="none" dirty="0">
                <a:solidFill>
                  <a:srgbClr val="1E293B"/>
                </a:solidFill>
                <a:latin typeface="Calibri"/>
                <a:ea typeface="Calibri"/>
                <a:cs typeface="Calibri"/>
                <a:sym typeface="Calibri"/>
              </a:rPr>
              <a:t>React (Vite), </a:t>
            </a:r>
            <a:r>
              <a:rPr lang="en-US" sz="1100" b="0" i="0" u="none" strike="noStrike" cap="none" dirty="0" err="1">
                <a:solidFill>
                  <a:srgbClr val="1E293B"/>
                </a:solidFill>
                <a:latin typeface="Calibri"/>
                <a:ea typeface="Calibri"/>
                <a:cs typeface="Calibri"/>
                <a:sym typeface="Calibri"/>
              </a:rPr>
              <a:t>Shadcn</a:t>
            </a:r>
            <a:endParaRPr sz="1100" b="0" i="0" u="none" strike="noStrike" cap="none" dirty="0">
              <a:solidFill>
                <a:schemeClr val="dk1"/>
              </a:solidFill>
              <a:latin typeface="Calibri"/>
              <a:ea typeface="Calibri"/>
              <a:cs typeface="Calibri"/>
              <a:sym typeface="Calibri"/>
            </a:endParaRPr>
          </a:p>
        </p:txBody>
      </p:sp>
      <p:sp>
        <p:nvSpPr>
          <p:cNvPr id="43" name="Google Shape;43;p4"/>
          <p:cNvSpPr/>
          <p:nvPr/>
        </p:nvSpPr>
        <p:spPr>
          <a:xfrm>
            <a:off x="4800600" y="2990088"/>
            <a:ext cx="11887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00"/>
              <a:buFont typeface="Calibri"/>
              <a:buNone/>
            </a:pPr>
            <a:r>
              <a:rPr lang="en-US" sz="1100" b="1" i="0" u="none" strike="noStrike" cap="none">
                <a:solidFill>
                  <a:srgbClr val="1B3A6B"/>
                </a:solidFill>
                <a:latin typeface="Calibri"/>
                <a:ea typeface="Calibri"/>
                <a:cs typeface="Calibri"/>
                <a:sym typeface="Calibri"/>
              </a:rPr>
              <a:t>Database</a:t>
            </a:r>
            <a:endParaRPr sz="1100" b="0" i="0" u="none" strike="noStrike" cap="none">
              <a:solidFill>
                <a:schemeClr val="dk1"/>
              </a:solidFill>
              <a:latin typeface="Calibri"/>
              <a:ea typeface="Calibri"/>
              <a:cs typeface="Calibri"/>
              <a:sym typeface="Calibri"/>
            </a:endParaRPr>
          </a:p>
        </p:txBody>
      </p:sp>
      <p:sp>
        <p:nvSpPr>
          <p:cNvPr id="44" name="Google Shape;44;p4"/>
          <p:cNvSpPr/>
          <p:nvPr/>
        </p:nvSpPr>
        <p:spPr>
          <a:xfrm>
            <a:off x="6035040" y="2990088"/>
            <a:ext cx="27432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0" i="0" u="none" strike="noStrike" cap="none">
                <a:solidFill>
                  <a:srgbClr val="1E293B"/>
                </a:solidFill>
                <a:latin typeface="Calibri"/>
                <a:ea typeface="Calibri"/>
                <a:cs typeface="Calibri"/>
                <a:sym typeface="Calibri"/>
              </a:rPr>
              <a:t>MySQL — 20-table schema</a:t>
            </a:r>
            <a:endParaRPr sz="1100" b="0" i="0" u="none" strike="noStrike" cap="none">
              <a:solidFill>
                <a:schemeClr val="dk1"/>
              </a:solidFill>
              <a:latin typeface="Calibri"/>
              <a:ea typeface="Calibri"/>
              <a:cs typeface="Calibri"/>
              <a:sym typeface="Calibri"/>
            </a:endParaRPr>
          </a:p>
        </p:txBody>
      </p:sp>
      <p:sp>
        <p:nvSpPr>
          <p:cNvPr id="45" name="Google Shape;45;p4"/>
          <p:cNvSpPr/>
          <p:nvPr/>
        </p:nvSpPr>
        <p:spPr>
          <a:xfrm>
            <a:off x="4800600" y="3502152"/>
            <a:ext cx="11887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00"/>
              <a:buFont typeface="Calibri"/>
              <a:buNone/>
            </a:pPr>
            <a:r>
              <a:rPr lang="en-US" sz="1100" b="1" i="0" u="none" strike="noStrike" cap="none">
                <a:solidFill>
                  <a:srgbClr val="1B3A6B"/>
                </a:solidFill>
                <a:latin typeface="Calibri"/>
                <a:ea typeface="Calibri"/>
                <a:cs typeface="Calibri"/>
                <a:sym typeface="Calibri"/>
              </a:rPr>
              <a:t>Auth</a:t>
            </a:r>
            <a:endParaRPr sz="1100" b="0" i="0" u="none" strike="noStrike" cap="none">
              <a:solidFill>
                <a:schemeClr val="dk1"/>
              </a:solidFill>
              <a:latin typeface="Calibri"/>
              <a:ea typeface="Calibri"/>
              <a:cs typeface="Calibri"/>
              <a:sym typeface="Calibri"/>
            </a:endParaRPr>
          </a:p>
        </p:txBody>
      </p:sp>
      <p:sp>
        <p:nvSpPr>
          <p:cNvPr id="46" name="Google Shape;46;p4"/>
          <p:cNvSpPr/>
          <p:nvPr/>
        </p:nvSpPr>
        <p:spPr>
          <a:xfrm>
            <a:off x="6035040" y="3502152"/>
            <a:ext cx="27432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0" i="0" u="none" strike="noStrike" cap="none">
                <a:solidFill>
                  <a:srgbClr val="1E293B"/>
                </a:solidFill>
                <a:latin typeface="Calibri"/>
                <a:ea typeface="Calibri"/>
                <a:cs typeface="Calibri"/>
                <a:sym typeface="Calibri"/>
              </a:rPr>
              <a:t>JWT + bcrypt</a:t>
            </a:r>
            <a:endParaRPr sz="1100" b="0" i="0" u="none" strike="noStrike" cap="none">
              <a:solidFill>
                <a:schemeClr val="dk1"/>
              </a:solidFill>
              <a:latin typeface="Calibri"/>
              <a:ea typeface="Calibri"/>
              <a:cs typeface="Calibri"/>
              <a:sym typeface="Calibri"/>
            </a:endParaRPr>
          </a:p>
        </p:txBody>
      </p:sp>
      <p:sp>
        <p:nvSpPr>
          <p:cNvPr id="47" name="Google Shape;47;p4"/>
          <p:cNvSpPr/>
          <p:nvPr/>
        </p:nvSpPr>
        <p:spPr>
          <a:xfrm>
            <a:off x="4800600" y="4014216"/>
            <a:ext cx="118872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00"/>
              <a:buFont typeface="Calibri"/>
              <a:buNone/>
            </a:pPr>
            <a:r>
              <a:rPr lang="en-US" sz="1100" b="1" i="0" u="none" strike="noStrike" cap="none">
                <a:solidFill>
                  <a:srgbClr val="1B3A6B"/>
                </a:solidFill>
                <a:latin typeface="Calibri"/>
                <a:ea typeface="Calibri"/>
                <a:cs typeface="Calibri"/>
                <a:sym typeface="Calibri"/>
              </a:rPr>
              <a:t>Dev Tools</a:t>
            </a:r>
            <a:endParaRPr sz="1100" b="0" i="0" u="none" strike="noStrike" cap="none">
              <a:solidFill>
                <a:schemeClr val="dk1"/>
              </a:solidFill>
              <a:latin typeface="Calibri"/>
              <a:ea typeface="Calibri"/>
              <a:cs typeface="Calibri"/>
              <a:sym typeface="Calibri"/>
            </a:endParaRPr>
          </a:p>
        </p:txBody>
      </p:sp>
      <p:sp>
        <p:nvSpPr>
          <p:cNvPr id="48" name="Google Shape;48;p4"/>
          <p:cNvSpPr/>
          <p:nvPr/>
        </p:nvSpPr>
        <p:spPr>
          <a:xfrm>
            <a:off x="6035040" y="4014216"/>
            <a:ext cx="27432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b="0" i="0" u="none" strike="noStrike" cap="none">
                <a:solidFill>
                  <a:srgbClr val="1E293B"/>
                </a:solidFill>
                <a:latin typeface="Calibri"/>
                <a:ea typeface="Calibri"/>
                <a:cs typeface="Calibri"/>
                <a:sym typeface="Calibri"/>
              </a:rPr>
              <a:t>Trello, GitHub, Postman</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
        <p:cNvGrpSpPr/>
        <p:nvPr/>
      </p:nvGrpSpPr>
      <p:grpSpPr>
        <a:xfrm>
          <a:off x="0" y="0"/>
          <a:ext cx="0" cy="0"/>
          <a:chOff x="0" y="0"/>
          <a:chExt cx="0" cy="0"/>
        </a:xfrm>
      </p:grpSpPr>
      <p:sp>
        <p:nvSpPr>
          <p:cNvPr id="54" name="Google Shape;54;p5"/>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56" name="Google Shape;56;p5"/>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b) Advantages &amp; Constraints</a:t>
            </a:r>
            <a:endParaRPr sz="2400" b="0" i="0" u="none" strike="noStrike" cap="none">
              <a:solidFill>
                <a:schemeClr val="dk1"/>
              </a:solidFill>
              <a:latin typeface="Calibri"/>
              <a:ea typeface="Calibri"/>
              <a:cs typeface="Calibri"/>
              <a:sym typeface="Calibri"/>
            </a:endParaRPr>
          </a:p>
        </p:txBody>
      </p:sp>
      <p:sp>
        <p:nvSpPr>
          <p:cNvPr id="57" name="Google Shape;57;p5"/>
          <p:cNvSpPr/>
          <p:nvPr/>
        </p:nvSpPr>
        <p:spPr>
          <a:xfrm>
            <a:off x="274320" y="1444752"/>
            <a:ext cx="4114800" cy="77724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274320" y="1444752"/>
            <a:ext cx="64008" cy="77724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438912" y="1499616"/>
            <a:ext cx="3840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50"/>
              <a:buFont typeface="Calibri"/>
              <a:buNone/>
            </a:pPr>
            <a:r>
              <a:rPr lang="en-US" sz="1150" b="1" i="0" u="none" strike="noStrike" cap="none">
                <a:solidFill>
                  <a:srgbClr val="1B3A6B"/>
                </a:solidFill>
                <a:latin typeface="Calibri"/>
                <a:ea typeface="Calibri"/>
                <a:cs typeface="Calibri"/>
                <a:sym typeface="Calibri"/>
              </a:rPr>
              <a:t>Real-Time Stock Updates</a:t>
            </a:r>
            <a:endParaRPr sz="1150" b="0" i="0" u="none" strike="noStrike" cap="none">
              <a:solidFill>
                <a:schemeClr val="dk1"/>
              </a:solidFill>
              <a:latin typeface="Calibri"/>
              <a:ea typeface="Calibri"/>
              <a:cs typeface="Calibri"/>
              <a:sym typeface="Calibri"/>
            </a:endParaRPr>
          </a:p>
        </p:txBody>
      </p:sp>
      <p:sp>
        <p:nvSpPr>
          <p:cNvPr id="60" name="Google Shape;60;p5"/>
          <p:cNvSpPr/>
          <p:nvPr/>
        </p:nvSpPr>
        <p:spPr>
          <a:xfrm>
            <a:off x="438912" y="1773936"/>
            <a:ext cx="38404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Inventory updates instantly when POs are received or SOs confirmed — no manual entry needed.</a:t>
            </a:r>
            <a:endParaRPr sz="1000" b="0" i="0" u="none" strike="noStrike" cap="none">
              <a:solidFill>
                <a:schemeClr val="dk1"/>
              </a:solidFill>
              <a:latin typeface="Calibri"/>
              <a:ea typeface="Calibri"/>
              <a:cs typeface="Calibri"/>
              <a:sym typeface="Calibri"/>
            </a:endParaRPr>
          </a:p>
        </p:txBody>
      </p:sp>
      <p:sp>
        <p:nvSpPr>
          <p:cNvPr id="61" name="Google Shape;61;p5"/>
          <p:cNvSpPr/>
          <p:nvPr/>
        </p:nvSpPr>
        <p:spPr>
          <a:xfrm>
            <a:off x="274320" y="2313432"/>
            <a:ext cx="4114800" cy="77724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274320" y="2313432"/>
            <a:ext cx="64008" cy="77724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438912" y="2368296"/>
            <a:ext cx="3840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50"/>
              <a:buFont typeface="Calibri"/>
              <a:buNone/>
            </a:pPr>
            <a:r>
              <a:rPr lang="en-US" sz="1150" b="1" i="0" u="none" strike="noStrike" cap="none">
                <a:solidFill>
                  <a:srgbClr val="1B3A6B"/>
                </a:solidFill>
                <a:latin typeface="Calibri"/>
                <a:ea typeface="Calibri"/>
                <a:cs typeface="Calibri"/>
                <a:sym typeface="Calibri"/>
              </a:rPr>
              <a:t>Multi-Tenant Isolation</a:t>
            </a:r>
            <a:endParaRPr sz="1150" b="0" i="0" u="none" strike="noStrike" cap="none">
              <a:solidFill>
                <a:schemeClr val="dk1"/>
              </a:solidFill>
              <a:latin typeface="Calibri"/>
              <a:ea typeface="Calibri"/>
              <a:cs typeface="Calibri"/>
              <a:sym typeface="Calibri"/>
            </a:endParaRPr>
          </a:p>
        </p:txBody>
      </p:sp>
      <p:sp>
        <p:nvSpPr>
          <p:cNvPr id="64" name="Google Shape;64;p5"/>
          <p:cNvSpPr/>
          <p:nvPr/>
        </p:nvSpPr>
        <p:spPr>
          <a:xfrm>
            <a:off x="438912" y="2642616"/>
            <a:ext cx="38404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BusinessID from JWT enforced server-side on every query — zero cross-tenant data leaks.</a:t>
            </a:r>
            <a:endParaRPr sz="1000" b="0" i="0" u="none" strike="noStrike" cap="none">
              <a:solidFill>
                <a:schemeClr val="dk1"/>
              </a:solidFill>
              <a:latin typeface="Calibri"/>
              <a:ea typeface="Calibri"/>
              <a:cs typeface="Calibri"/>
              <a:sym typeface="Calibri"/>
            </a:endParaRPr>
          </a:p>
        </p:txBody>
      </p:sp>
      <p:sp>
        <p:nvSpPr>
          <p:cNvPr id="65" name="Google Shape;65;p5"/>
          <p:cNvSpPr/>
          <p:nvPr/>
        </p:nvSpPr>
        <p:spPr>
          <a:xfrm>
            <a:off x="274320" y="3182112"/>
            <a:ext cx="4114800" cy="77724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274320" y="3182112"/>
            <a:ext cx="64008" cy="77724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438912" y="3236976"/>
            <a:ext cx="3840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50"/>
              <a:buFont typeface="Calibri"/>
              <a:buNone/>
            </a:pPr>
            <a:r>
              <a:rPr lang="en-US" sz="1150" b="1" i="0" u="none" strike="noStrike" cap="none">
                <a:solidFill>
                  <a:srgbClr val="1B3A6B"/>
                </a:solidFill>
                <a:latin typeface="Calibri"/>
                <a:ea typeface="Calibri"/>
                <a:cs typeface="Calibri"/>
                <a:sym typeface="Calibri"/>
              </a:rPr>
              <a:t>Full Audit Trail</a:t>
            </a:r>
            <a:endParaRPr sz="1150" b="0" i="0" u="none" strike="noStrike" cap="none">
              <a:solidFill>
                <a:schemeClr val="dk1"/>
              </a:solidFill>
              <a:latin typeface="Calibri"/>
              <a:ea typeface="Calibri"/>
              <a:cs typeface="Calibri"/>
              <a:sym typeface="Calibri"/>
            </a:endParaRPr>
          </a:p>
        </p:txBody>
      </p:sp>
      <p:sp>
        <p:nvSpPr>
          <p:cNvPr id="68" name="Google Shape;68;p5"/>
          <p:cNvSpPr/>
          <p:nvPr/>
        </p:nvSpPr>
        <p:spPr>
          <a:xfrm>
            <a:off x="438912" y="3511296"/>
            <a:ext cx="38404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Every action logged with actor, timestamp, and details. Filterable and CSV-exportable.</a:t>
            </a:r>
            <a:endParaRPr sz="1000" b="0" i="0" u="none" strike="noStrike" cap="none">
              <a:solidFill>
                <a:schemeClr val="dk1"/>
              </a:solidFill>
              <a:latin typeface="Calibri"/>
              <a:ea typeface="Calibri"/>
              <a:cs typeface="Calibri"/>
              <a:sym typeface="Calibri"/>
            </a:endParaRPr>
          </a:p>
        </p:txBody>
      </p:sp>
      <p:sp>
        <p:nvSpPr>
          <p:cNvPr id="69" name="Google Shape;69;p5"/>
          <p:cNvSpPr/>
          <p:nvPr/>
        </p:nvSpPr>
        <p:spPr>
          <a:xfrm>
            <a:off x="274320" y="4050792"/>
            <a:ext cx="4114800" cy="77724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274320" y="4050792"/>
            <a:ext cx="64008" cy="77724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438912" y="4105656"/>
            <a:ext cx="3840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50"/>
              <a:buFont typeface="Calibri"/>
              <a:buNone/>
            </a:pPr>
            <a:r>
              <a:rPr lang="en-US" sz="1150" b="1" i="0" u="none" strike="noStrike" cap="none">
                <a:solidFill>
                  <a:srgbClr val="1B3A6B"/>
                </a:solidFill>
                <a:latin typeface="Calibri"/>
                <a:ea typeface="Calibri"/>
                <a:cs typeface="Calibri"/>
                <a:sym typeface="Calibri"/>
              </a:rPr>
              <a:t>Role-Based Access</a:t>
            </a:r>
            <a:endParaRPr sz="1150" b="0" i="0" u="none" strike="noStrike" cap="none">
              <a:solidFill>
                <a:schemeClr val="dk1"/>
              </a:solidFill>
              <a:latin typeface="Calibri"/>
              <a:ea typeface="Calibri"/>
              <a:cs typeface="Calibri"/>
              <a:sym typeface="Calibri"/>
            </a:endParaRPr>
          </a:p>
        </p:txBody>
      </p:sp>
      <p:sp>
        <p:nvSpPr>
          <p:cNvPr id="72" name="Google Shape;72;p5"/>
          <p:cNvSpPr/>
          <p:nvPr/>
        </p:nvSpPr>
        <p:spPr>
          <a:xfrm>
            <a:off x="438912" y="4379976"/>
            <a:ext cx="38404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00"/>
              <a:buFont typeface="Calibri"/>
              <a:buNone/>
            </a:pPr>
            <a:r>
              <a:rPr lang="en-US" sz="1000" b="0" i="0" u="none" strike="noStrike" cap="none">
                <a:solidFill>
                  <a:srgbClr val="1E293B"/>
                </a:solidFill>
                <a:latin typeface="Calibri"/>
                <a:ea typeface="Calibri"/>
                <a:cs typeface="Calibri"/>
                <a:sym typeface="Calibri"/>
              </a:rPr>
              <a:t>Owners, Managers, and Staff have distinct permissions enforced at the API layer.</a:t>
            </a:r>
            <a:endParaRPr sz="1000" b="0" i="0" u="none" strike="noStrike" cap="none">
              <a:solidFill>
                <a:schemeClr val="dk1"/>
              </a:solidFill>
              <a:latin typeface="Calibri"/>
              <a:ea typeface="Calibri"/>
              <a:cs typeface="Calibri"/>
              <a:sym typeface="Calibri"/>
            </a:endParaRPr>
          </a:p>
        </p:txBody>
      </p:sp>
      <p:sp>
        <p:nvSpPr>
          <p:cNvPr id="73" name="Google Shape;73;p5"/>
          <p:cNvSpPr/>
          <p:nvPr/>
        </p:nvSpPr>
        <p:spPr>
          <a:xfrm>
            <a:off x="4617720" y="1444752"/>
            <a:ext cx="4251960" cy="3291840"/>
          </a:xfrm>
          <a:prstGeom prst="rect">
            <a:avLst/>
          </a:prstGeom>
          <a:solidFill>
            <a:srgbClr val="FFF7ED"/>
          </a:solidFill>
          <a:ln w="12700" cap="flat" cmpd="sng">
            <a:solidFill>
              <a:srgbClr val="FED7A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617720" y="1444752"/>
            <a:ext cx="4251960" cy="384048"/>
          </a:xfrm>
          <a:prstGeom prst="rect">
            <a:avLst/>
          </a:prstGeom>
          <a:solidFill>
            <a:srgbClr val="C2410C"/>
          </a:solidFill>
          <a:ln w="12700" cap="flat" cmpd="sng">
            <a:solidFill>
              <a:srgbClr val="C241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4754880" y="1444752"/>
            <a:ext cx="39776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Constraints</a:t>
            </a:r>
            <a:endParaRPr sz="1300" b="0" i="0" u="none" strike="noStrike" cap="none">
              <a:solidFill>
                <a:schemeClr val="dk1"/>
              </a:solidFill>
              <a:latin typeface="Calibri"/>
              <a:ea typeface="Calibri"/>
              <a:cs typeface="Calibri"/>
              <a:sym typeface="Calibri"/>
            </a:endParaRPr>
          </a:p>
        </p:txBody>
      </p:sp>
      <p:sp>
        <p:nvSpPr>
          <p:cNvPr id="76" name="Google Shape;76;p5"/>
          <p:cNvSpPr/>
          <p:nvPr/>
        </p:nvSpPr>
        <p:spPr>
          <a:xfrm>
            <a:off x="4754880" y="1920240"/>
            <a:ext cx="3977640" cy="265176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7C2D12"/>
              </a:buClr>
              <a:buSzPts val="1200"/>
              <a:buFont typeface="Calibri"/>
              <a:buChar char="•"/>
            </a:pPr>
            <a:r>
              <a:rPr lang="en-US" sz="1200" b="0" i="0" u="none" strike="noStrike" cap="none">
                <a:solidFill>
                  <a:srgbClr val="7C2D12"/>
                </a:solidFill>
                <a:latin typeface="Calibri"/>
                <a:ea typeface="Calibri"/>
                <a:cs typeface="Calibri"/>
                <a:sym typeface="Calibri"/>
              </a:rPr>
              <a:t>No mobile app — web only</a:t>
            </a:r>
            <a:endParaRPr sz="120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7C2D12"/>
              </a:buClr>
              <a:buSzPts val="1200"/>
              <a:buFont typeface="Calibri"/>
              <a:buChar char="•"/>
            </a:pPr>
            <a:r>
              <a:rPr lang="en-US" sz="1200" b="0" i="0" u="none" strike="noStrike" cap="none">
                <a:solidFill>
                  <a:srgbClr val="7C2D12"/>
                </a:solidFill>
                <a:latin typeface="Calibri"/>
                <a:ea typeface="Calibri"/>
                <a:cs typeface="Calibri"/>
                <a:sym typeface="Calibri"/>
              </a:rPr>
              <a:t>Local MySQL only (no cloud DB yet)</a:t>
            </a:r>
            <a:endParaRPr sz="120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7C2D12"/>
              </a:buClr>
              <a:buSzPts val="1200"/>
              <a:buFont typeface="Calibri"/>
              <a:buChar char="•"/>
            </a:pPr>
            <a:r>
              <a:rPr lang="en-US" sz="1200" b="0" i="0" u="none" strike="noStrike" cap="none">
                <a:solidFill>
                  <a:srgbClr val="7C2D12"/>
                </a:solidFill>
                <a:latin typeface="Calibri"/>
                <a:ea typeface="Calibri"/>
                <a:cs typeface="Calibri"/>
                <a:sym typeface="Calibri"/>
              </a:rPr>
              <a:t>No real-time push notifications</a:t>
            </a:r>
            <a:endParaRPr sz="120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7C2D12"/>
              </a:buClr>
              <a:buSzPts val="1200"/>
              <a:buFont typeface="Calibri"/>
              <a:buChar char="•"/>
            </a:pPr>
            <a:r>
              <a:rPr lang="en-US" sz="1200" b="0" i="0" u="none" strike="noStrike" cap="none">
                <a:solidFill>
                  <a:srgbClr val="7C2D12"/>
                </a:solidFill>
                <a:latin typeface="Calibri"/>
                <a:ea typeface="Calibri"/>
                <a:cs typeface="Calibri"/>
                <a:sym typeface="Calibri"/>
              </a:rPr>
              <a:t>Single-currency support ($) only</a:t>
            </a:r>
            <a:endParaRPr sz="120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7C2D12"/>
              </a:buClr>
              <a:buSzPts val="1200"/>
              <a:buFont typeface="Calibri"/>
              <a:buChar char="•"/>
            </a:pPr>
            <a:r>
              <a:rPr lang="en-US" sz="1200" b="0" i="0" u="none" strike="noStrike" cap="none">
                <a:solidFill>
                  <a:srgbClr val="7C2D12"/>
                </a:solidFill>
                <a:latin typeface="Calibri"/>
                <a:ea typeface="Calibri"/>
                <a:cs typeface="Calibri"/>
                <a:sym typeface="Calibri"/>
              </a:rPr>
              <a:t>No barcode/QR code scanning</a:t>
            </a:r>
            <a:endParaRPr sz="120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7C2D12"/>
              </a:buClr>
              <a:buSzPts val="1200"/>
              <a:buFont typeface="Calibri"/>
              <a:buChar char="•"/>
            </a:pPr>
            <a:r>
              <a:rPr lang="en-US" sz="1200" b="0" i="0" u="none" strike="noStrike" cap="none">
                <a:solidFill>
                  <a:srgbClr val="7C2D12"/>
                </a:solidFill>
                <a:latin typeface="Calibri"/>
                <a:ea typeface="Calibri"/>
                <a:cs typeface="Calibri"/>
                <a:sym typeface="Calibri"/>
              </a:rPr>
              <a:t>Manual CSV import not supported</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1"/>
        <p:cNvGrpSpPr/>
        <p:nvPr/>
      </p:nvGrpSpPr>
      <p:grpSpPr>
        <a:xfrm>
          <a:off x="0" y="0"/>
          <a:ext cx="0" cy="0"/>
          <a:chOff x="0" y="0"/>
          <a:chExt cx="0" cy="0"/>
        </a:xfrm>
      </p:grpSpPr>
      <p:sp>
        <p:nvSpPr>
          <p:cNvPr id="82" name="Google Shape;82;p6"/>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6"/>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84" name="Google Shape;84;p6"/>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c) Non-Functional Requirements</a:t>
            </a:r>
            <a:endParaRPr sz="2400" b="0" i="0" u="none" strike="noStrike" cap="none">
              <a:solidFill>
                <a:schemeClr val="dk1"/>
              </a:solidFill>
              <a:latin typeface="Calibri"/>
              <a:ea typeface="Calibri"/>
              <a:cs typeface="Calibri"/>
              <a:sym typeface="Calibri"/>
            </a:endParaRPr>
          </a:p>
        </p:txBody>
      </p:sp>
      <p:sp>
        <p:nvSpPr>
          <p:cNvPr id="85" name="Google Shape;85;p6"/>
          <p:cNvSpPr/>
          <p:nvPr/>
        </p:nvSpPr>
        <p:spPr>
          <a:xfrm>
            <a:off x="274320" y="1463040"/>
            <a:ext cx="8595360" cy="141732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6"/>
          <p:cNvSpPr/>
          <p:nvPr/>
        </p:nvSpPr>
        <p:spPr>
          <a:xfrm>
            <a:off x="274320" y="1463040"/>
            <a:ext cx="73152" cy="141732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7" name="Google Shape;87;p6" descr="preencoded.png"/>
          <p:cNvPicPr preferRelativeResize="0"/>
          <p:nvPr/>
        </p:nvPicPr>
        <p:blipFill rotWithShape="1">
          <a:blip r:embed="rId3">
            <a:alphaModFix/>
          </a:blip>
          <a:srcRect/>
          <a:stretch/>
        </p:blipFill>
        <p:spPr>
          <a:xfrm>
            <a:off x="502920" y="1572768"/>
            <a:ext cx="365760" cy="365760"/>
          </a:xfrm>
          <a:prstGeom prst="rect">
            <a:avLst/>
          </a:prstGeom>
          <a:noFill/>
          <a:ln>
            <a:noFill/>
          </a:ln>
        </p:spPr>
      </p:pic>
      <p:sp>
        <p:nvSpPr>
          <p:cNvPr id="88" name="Google Shape;88;p6"/>
          <p:cNvSpPr/>
          <p:nvPr/>
        </p:nvSpPr>
        <p:spPr>
          <a:xfrm>
            <a:off x="960120" y="1508760"/>
            <a:ext cx="768096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400"/>
              <a:buFont typeface="Calibri"/>
              <a:buNone/>
            </a:pPr>
            <a:r>
              <a:rPr lang="en-US" sz="1400" b="1" i="0" u="none" strike="noStrike" cap="none">
                <a:solidFill>
                  <a:srgbClr val="1B3A6B"/>
                </a:solidFill>
                <a:latin typeface="Calibri"/>
                <a:ea typeface="Calibri"/>
                <a:cs typeface="Calibri"/>
                <a:sym typeface="Calibri"/>
              </a:rPr>
              <a:t>NFR-1: Security</a:t>
            </a:r>
            <a:endParaRPr sz="1400" b="0" i="0" u="none" strike="noStrike" cap="none">
              <a:solidFill>
                <a:schemeClr val="dk1"/>
              </a:solidFill>
              <a:latin typeface="Calibri"/>
              <a:ea typeface="Calibri"/>
              <a:cs typeface="Calibri"/>
              <a:sym typeface="Calibri"/>
            </a:endParaRPr>
          </a:p>
        </p:txBody>
      </p:sp>
      <p:sp>
        <p:nvSpPr>
          <p:cNvPr id="89" name="Google Shape;89;p6"/>
          <p:cNvSpPr/>
          <p:nvPr/>
        </p:nvSpPr>
        <p:spPr>
          <a:xfrm>
            <a:off x="960120" y="1874520"/>
            <a:ext cx="768096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50"/>
              <a:buFont typeface="Calibri"/>
              <a:buNone/>
            </a:pPr>
            <a:r>
              <a:rPr lang="en-US" sz="1150" b="0" i="0" u="none" strike="noStrike" cap="none">
                <a:solidFill>
                  <a:srgbClr val="1E293B"/>
                </a:solidFill>
                <a:latin typeface="Calibri"/>
                <a:ea typeface="Calibri"/>
                <a:cs typeface="Calibri"/>
                <a:sym typeface="Calibri"/>
              </a:rPr>
              <a:t>Multi-tenant isolation enforced server-side via BusinessID extracted from JWT on every protected route. Passwords hashed with bcrypt. JWT tokens expire and are validated on all routes. Role-based access control (RBAC) restricts module access by staff role (Owner vs Manager).</a:t>
            </a:r>
            <a:endParaRPr sz="1150" b="0" i="0" u="none" strike="noStrike" cap="none">
              <a:solidFill>
                <a:schemeClr val="dk1"/>
              </a:solidFill>
              <a:latin typeface="Calibri"/>
              <a:ea typeface="Calibri"/>
              <a:cs typeface="Calibri"/>
              <a:sym typeface="Calibri"/>
            </a:endParaRPr>
          </a:p>
        </p:txBody>
      </p:sp>
      <p:sp>
        <p:nvSpPr>
          <p:cNvPr id="90" name="Google Shape;90;p6"/>
          <p:cNvSpPr/>
          <p:nvPr/>
        </p:nvSpPr>
        <p:spPr>
          <a:xfrm>
            <a:off x="274320" y="3063240"/>
            <a:ext cx="8595360" cy="141732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p:nvPr/>
        </p:nvSpPr>
        <p:spPr>
          <a:xfrm>
            <a:off x="274320" y="3063240"/>
            <a:ext cx="73152" cy="141732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2" name="Google Shape;92;p6" descr="preencoded.png"/>
          <p:cNvPicPr preferRelativeResize="0"/>
          <p:nvPr/>
        </p:nvPicPr>
        <p:blipFill rotWithShape="1">
          <a:blip r:embed="rId4">
            <a:alphaModFix/>
          </a:blip>
          <a:srcRect/>
          <a:stretch/>
        </p:blipFill>
        <p:spPr>
          <a:xfrm>
            <a:off x="502920" y="3172968"/>
            <a:ext cx="365760" cy="365760"/>
          </a:xfrm>
          <a:prstGeom prst="rect">
            <a:avLst/>
          </a:prstGeom>
          <a:noFill/>
          <a:ln>
            <a:noFill/>
          </a:ln>
        </p:spPr>
      </p:pic>
      <p:sp>
        <p:nvSpPr>
          <p:cNvPr id="93" name="Google Shape;93;p6"/>
          <p:cNvSpPr/>
          <p:nvPr/>
        </p:nvSpPr>
        <p:spPr>
          <a:xfrm>
            <a:off x="960120" y="3108960"/>
            <a:ext cx="768096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400"/>
              <a:buFont typeface="Calibri"/>
              <a:buNone/>
            </a:pPr>
            <a:r>
              <a:rPr lang="en-US" sz="1400" b="1" i="0" u="none" strike="noStrike" cap="none">
                <a:solidFill>
                  <a:srgbClr val="1B3A6B"/>
                </a:solidFill>
                <a:latin typeface="Calibri"/>
                <a:ea typeface="Calibri"/>
                <a:cs typeface="Calibri"/>
                <a:sym typeface="Calibri"/>
              </a:rPr>
              <a:t>NFR-2: Performance</a:t>
            </a:r>
            <a:endParaRPr sz="1400" b="0" i="0" u="none" strike="noStrike" cap="none">
              <a:solidFill>
                <a:schemeClr val="dk1"/>
              </a:solidFill>
              <a:latin typeface="Calibri"/>
              <a:ea typeface="Calibri"/>
              <a:cs typeface="Calibri"/>
              <a:sym typeface="Calibri"/>
            </a:endParaRPr>
          </a:p>
        </p:txBody>
      </p:sp>
      <p:sp>
        <p:nvSpPr>
          <p:cNvPr id="94" name="Google Shape;94;p6"/>
          <p:cNvSpPr/>
          <p:nvPr/>
        </p:nvSpPr>
        <p:spPr>
          <a:xfrm>
            <a:off x="960120" y="3474720"/>
            <a:ext cx="768096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50"/>
              <a:buFont typeface="Calibri"/>
              <a:buNone/>
            </a:pPr>
            <a:r>
              <a:rPr lang="en-US" sz="1150" b="0" i="0" u="none" strike="noStrike" cap="none">
                <a:solidFill>
                  <a:srgbClr val="1E293B"/>
                </a:solidFill>
                <a:latin typeface="Calibri"/>
                <a:ea typeface="Calibri"/>
                <a:cs typeface="Calibri"/>
                <a:sym typeface="Calibri"/>
              </a:rPr>
              <a:t>Standard CRUD operations execute in under 1.5 seconds under normal load. Order listing queries use indexed columns (BusinessID, WarehouseID, SupplierID, Status) for efficient filtering. Paginated responses returned for large datasets to maintain UI responsiveness. SQL Views centralize complex joins at the database layer.</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F3D"/>
        </a:solidFill>
        <a:effectLst/>
      </p:bgPr>
    </p:bg>
    <p:spTree>
      <p:nvGrpSpPr>
        <p:cNvPr id="1" name="Shape 99"/>
        <p:cNvGrpSpPr/>
        <p:nvPr/>
      </p:nvGrpSpPr>
      <p:grpSpPr>
        <a:xfrm>
          <a:off x="0" y="0"/>
          <a:ext cx="0" cy="0"/>
          <a:chOff x="0" y="0"/>
          <a:chExt cx="0" cy="0"/>
        </a:xfrm>
      </p:grpSpPr>
      <p:sp>
        <p:nvSpPr>
          <p:cNvPr id="100" name="Google Shape;100;p7"/>
          <p:cNvSpPr/>
          <p:nvPr/>
        </p:nvSpPr>
        <p:spPr>
          <a:xfrm>
            <a:off x="0" y="0"/>
            <a:ext cx="164592" cy="51435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7"/>
          <p:cNvSpPr/>
          <p:nvPr/>
        </p:nvSpPr>
        <p:spPr>
          <a:xfrm>
            <a:off x="411480" y="1645920"/>
            <a:ext cx="832104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a:solidFill>
                  <a:srgbClr val="FFFFFF"/>
                </a:solidFill>
                <a:latin typeface="Calibri"/>
                <a:ea typeface="Calibri"/>
                <a:cs typeface="Calibri"/>
                <a:sym typeface="Calibri"/>
              </a:rPr>
              <a:t>d) Design</a:t>
            </a:r>
            <a:endParaRPr sz="4000" b="0" i="0" u="none" strike="noStrike" cap="none">
              <a:solidFill>
                <a:schemeClr val="dk1"/>
              </a:solidFill>
              <a:latin typeface="Calibri"/>
              <a:ea typeface="Calibri"/>
              <a:cs typeface="Calibri"/>
              <a:sym typeface="Calibri"/>
            </a:endParaRPr>
          </a:p>
        </p:txBody>
      </p:sp>
      <p:sp>
        <p:nvSpPr>
          <p:cNvPr id="102" name="Google Shape;102;p7"/>
          <p:cNvSpPr/>
          <p:nvPr/>
        </p:nvSpPr>
        <p:spPr>
          <a:xfrm>
            <a:off x="411480" y="2834640"/>
            <a:ext cx="8321040" cy="6400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4B8A6"/>
              </a:buClr>
              <a:buSzPts val="1800"/>
              <a:buFont typeface="Calibri"/>
              <a:buNone/>
            </a:pPr>
            <a:r>
              <a:rPr lang="en-US" sz="1800" b="0" i="0" u="none" strike="noStrike" cap="none">
                <a:solidFill>
                  <a:srgbClr val="14B8A6"/>
                </a:solidFill>
                <a:latin typeface="Calibri"/>
                <a:ea typeface="Calibri"/>
                <a:cs typeface="Calibri"/>
                <a:sym typeface="Calibri"/>
              </a:rPr>
              <a:t>UML Diagrams — Use Case · Class · Activity · Sequence</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
        <p:cNvGrpSpPr/>
        <p:nvPr/>
      </p:nvGrpSpPr>
      <p:grpSpPr>
        <a:xfrm>
          <a:off x="0" y="0"/>
          <a:ext cx="0" cy="0"/>
          <a:chOff x="0" y="0"/>
          <a:chExt cx="0" cy="0"/>
        </a:xfrm>
      </p:grpSpPr>
      <p:sp>
        <p:nvSpPr>
          <p:cNvPr id="108" name="Google Shape;108;p8"/>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8"/>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110" name="Google Shape;110;p8"/>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d) Design — Use Case &amp; Class Diagrams</a:t>
            </a:r>
            <a:endParaRPr sz="2400" b="0" i="0" u="none" strike="noStrike" cap="none">
              <a:solidFill>
                <a:schemeClr val="dk1"/>
              </a:solidFill>
              <a:latin typeface="Calibri"/>
              <a:ea typeface="Calibri"/>
              <a:cs typeface="Calibri"/>
              <a:sym typeface="Calibri"/>
            </a:endParaRPr>
          </a:p>
        </p:txBody>
      </p:sp>
      <p:pic>
        <p:nvPicPr>
          <p:cNvPr id="111" name="Google Shape;111;p8" descr="preencoded.png"/>
          <p:cNvPicPr preferRelativeResize="0"/>
          <p:nvPr/>
        </p:nvPicPr>
        <p:blipFill rotWithShape="1">
          <a:blip r:embed="rId3">
            <a:alphaModFix/>
          </a:blip>
          <a:srcRect/>
          <a:stretch/>
        </p:blipFill>
        <p:spPr>
          <a:xfrm>
            <a:off x="228600" y="1417320"/>
            <a:ext cx="4251960" cy="3474720"/>
          </a:xfrm>
          <a:prstGeom prst="rect">
            <a:avLst/>
          </a:prstGeom>
          <a:noFill/>
          <a:ln>
            <a:noFill/>
          </a:ln>
        </p:spPr>
      </p:pic>
      <p:sp>
        <p:nvSpPr>
          <p:cNvPr id="112" name="Google Shape;112;p8"/>
          <p:cNvSpPr/>
          <p:nvPr/>
        </p:nvSpPr>
        <p:spPr>
          <a:xfrm>
            <a:off x="228600" y="4846320"/>
            <a:ext cx="425196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Use Case Diagram</a:t>
            </a:r>
            <a:endParaRPr sz="1000" b="0" i="0" u="none" strike="noStrike" cap="none">
              <a:solidFill>
                <a:schemeClr val="dk1"/>
              </a:solidFill>
              <a:latin typeface="Calibri"/>
              <a:ea typeface="Calibri"/>
              <a:cs typeface="Calibri"/>
              <a:sym typeface="Calibri"/>
            </a:endParaRPr>
          </a:p>
        </p:txBody>
      </p:sp>
      <p:pic>
        <p:nvPicPr>
          <p:cNvPr id="113" name="Google Shape;113;p8" descr="preencoded.png"/>
          <p:cNvPicPr preferRelativeResize="0"/>
          <p:nvPr/>
        </p:nvPicPr>
        <p:blipFill rotWithShape="1">
          <a:blip r:embed="rId4">
            <a:alphaModFix/>
          </a:blip>
          <a:srcRect/>
          <a:stretch/>
        </p:blipFill>
        <p:spPr>
          <a:xfrm>
            <a:off x="4663440" y="1417320"/>
            <a:ext cx="4251960" cy="3474720"/>
          </a:xfrm>
          <a:prstGeom prst="rect">
            <a:avLst/>
          </a:prstGeom>
          <a:noFill/>
          <a:ln>
            <a:noFill/>
          </a:ln>
        </p:spPr>
      </p:pic>
      <p:sp>
        <p:nvSpPr>
          <p:cNvPr id="114" name="Google Shape;114;p8"/>
          <p:cNvSpPr/>
          <p:nvPr/>
        </p:nvSpPr>
        <p:spPr>
          <a:xfrm>
            <a:off x="4663440" y="4846320"/>
            <a:ext cx="425196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Class Diagram</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9"/>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9"/>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122" name="Google Shape;122;p9"/>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d) Design — Activity Diagrams</a:t>
            </a:r>
            <a:endParaRPr sz="2400" b="0" i="0" u="none" strike="noStrike" cap="none">
              <a:solidFill>
                <a:schemeClr val="dk1"/>
              </a:solidFill>
              <a:latin typeface="Calibri"/>
              <a:ea typeface="Calibri"/>
              <a:cs typeface="Calibri"/>
              <a:sym typeface="Calibri"/>
            </a:endParaRPr>
          </a:p>
        </p:txBody>
      </p:sp>
      <p:pic>
        <p:nvPicPr>
          <p:cNvPr id="123" name="Google Shape;123;p9" descr="preencoded.png"/>
          <p:cNvPicPr preferRelativeResize="0"/>
          <p:nvPr/>
        </p:nvPicPr>
        <p:blipFill rotWithShape="1">
          <a:blip r:embed="rId3">
            <a:alphaModFix/>
          </a:blip>
          <a:srcRect/>
          <a:stretch/>
        </p:blipFill>
        <p:spPr>
          <a:xfrm>
            <a:off x="228600" y="1417320"/>
            <a:ext cx="4251960" cy="3474720"/>
          </a:xfrm>
          <a:prstGeom prst="rect">
            <a:avLst/>
          </a:prstGeom>
          <a:noFill/>
          <a:ln>
            <a:noFill/>
          </a:ln>
        </p:spPr>
      </p:pic>
      <p:sp>
        <p:nvSpPr>
          <p:cNvPr id="124" name="Google Shape;124;p9"/>
          <p:cNvSpPr/>
          <p:nvPr/>
        </p:nvSpPr>
        <p:spPr>
          <a:xfrm>
            <a:off x="228600" y="4846320"/>
            <a:ext cx="425196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User Registration &amp; Email Verification</a:t>
            </a:r>
            <a:endParaRPr sz="1000" b="0" i="0" u="none" strike="noStrike" cap="none">
              <a:solidFill>
                <a:schemeClr val="dk1"/>
              </a:solidFill>
              <a:latin typeface="Calibri"/>
              <a:ea typeface="Calibri"/>
              <a:cs typeface="Calibri"/>
              <a:sym typeface="Calibri"/>
            </a:endParaRPr>
          </a:p>
        </p:txBody>
      </p:sp>
      <p:pic>
        <p:nvPicPr>
          <p:cNvPr id="125" name="Google Shape;125;p9" descr="preencoded.png"/>
          <p:cNvPicPr preferRelativeResize="0"/>
          <p:nvPr/>
        </p:nvPicPr>
        <p:blipFill rotWithShape="1">
          <a:blip r:embed="rId4">
            <a:alphaModFix/>
          </a:blip>
          <a:srcRect/>
          <a:stretch/>
        </p:blipFill>
        <p:spPr>
          <a:xfrm>
            <a:off x="4663440" y="1417320"/>
            <a:ext cx="4251960" cy="3474720"/>
          </a:xfrm>
          <a:prstGeom prst="rect">
            <a:avLst/>
          </a:prstGeom>
          <a:noFill/>
          <a:ln>
            <a:noFill/>
          </a:ln>
        </p:spPr>
      </p:pic>
      <p:sp>
        <p:nvSpPr>
          <p:cNvPr id="126" name="Google Shape;126;p9"/>
          <p:cNvSpPr/>
          <p:nvPr/>
        </p:nvSpPr>
        <p:spPr>
          <a:xfrm>
            <a:off x="4663440" y="4846320"/>
            <a:ext cx="425196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Employee Invitation &amp; Onboarding</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1"/>
        <p:cNvGrpSpPr/>
        <p:nvPr/>
      </p:nvGrpSpPr>
      <p:grpSpPr>
        <a:xfrm>
          <a:off x="0" y="0"/>
          <a:ext cx="0" cy="0"/>
          <a:chOff x="0" y="0"/>
          <a:chExt cx="0" cy="0"/>
        </a:xfrm>
      </p:grpSpPr>
      <p:sp>
        <p:nvSpPr>
          <p:cNvPr id="132" name="Google Shape;132;p10"/>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0"/>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134" name="Google Shape;134;p10"/>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d) Design — Sequence Diagrams</a:t>
            </a:r>
            <a:endParaRPr sz="2400" b="0" i="0" u="none" strike="noStrike" cap="none">
              <a:solidFill>
                <a:schemeClr val="dk1"/>
              </a:solidFill>
              <a:latin typeface="Calibri"/>
              <a:ea typeface="Calibri"/>
              <a:cs typeface="Calibri"/>
              <a:sym typeface="Calibri"/>
            </a:endParaRPr>
          </a:p>
        </p:txBody>
      </p:sp>
      <p:pic>
        <p:nvPicPr>
          <p:cNvPr id="135" name="Google Shape;135;p10" descr="preencoded.png"/>
          <p:cNvPicPr preferRelativeResize="0"/>
          <p:nvPr/>
        </p:nvPicPr>
        <p:blipFill rotWithShape="1">
          <a:blip r:embed="rId3">
            <a:alphaModFix/>
          </a:blip>
          <a:srcRect/>
          <a:stretch/>
        </p:blipFill>
        <p:spPr>
          <a:xfrm>
            <a:off x="182880" y="1417320"/>
            <a:ext cx="2834640" cy="3474720"/>
          </a:xfrm>
          <a:prstGeom prst="rect">
            <a:avLst/>
          </a:prstGeom>
          <a:noFill/>
          <a:ln>
            <a:noFill/>
          </a:ln>
        </p:spPr>
      </p:pic>
      <p:sp>
        <p:nvSpPr>
          <p:cNvPr id="136" name="Google Shape;136;p10"/>
          <p:cNvSpPr/>
          <p:nvPr/>
        </p:nvSpPr>
        <p:spPr>
          <a:xfrm>
            <a:off x="182880" y="4846320"/>
            <a:ext cx="283464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User Registration</a:t>
            </a:r>
            <a:endParaRPr sz="1000" b="0" i="0" u="none" strike="noStrike" cap="none">
              <a:solidFill>
                <a:schemeClr val="dk1"/>
              </a:solidFill>
              <a:latin typeface="Calibri"/>
              <a:ea typeface="Calibri"/>
              <a:cs typeface="Calibri"/>
              <a:sym typeface="Calibri"/>
            </a:endParaRPr>
          </a:p>
        </p:txBody>
      </p:sp>
      <p:pic>
        <p:nvPicPr>
          <p:cNvPr id="137" name="Google Shape;137;p10" descr="preencoded.png"/>
          <p:cNvPicPr preferRelativeResize="0"/>
          <p:nvPr/>
        </p:nvPicPr>
        <p:blipFill rotWithShape="1">
          <a:blip r:embed="rId4">
            <a:alphaModFix/>
          </a:blip>
          <a:srcRect/>
          <a:stretch/>
        </p:blipFill>
        <p:spPr>
          <a:xfrm>
            <a:off x="3200400" y="1417320"/>
            <a:ext cx="2834640" cy="3474720"/>
          </a:xfrm>
          <a:prstGeom prst="rect">
            <a:avLst/>
          </a:prstGeom>
          <a:noFill/>
          <a:ln>
            <a:noFill/>
          </a:ln>
        </p:spPr>
      </p:pic>
      <p:sp>
        <p:nvSpPr>
          <p:cNvPr id="138" name="Google Shape;138;p10"/>
          <p:cNvSpPr/>
          <p:nvPr/>
        </p:nvSpPr>
        <p:spPr>
          <a:xfrm>
            <a:off x="3200400" y="4846320"/>
            <a:ext cx="283464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Employee Onboarding</a:t>
            </a:r>
            <a:endParaRPr sz="1000" b="0" i="0" u="none" strike="noStrike" cap="none">
              <a:solidFill>
                <a:schemeClr val="dk1"/>
              </a:solidFill>
              <a:latin typeface="Calibri"/>
              <a:ea typeface="Calibri"/>
              <a:cs typeface="Calibri"/>
              <a:sym typeface="Calibri"/>
            </a:endParaRPr>
          </a:p>
        </p:txBody>
      </p:sp>
      <p:pic>
        <p:nvPicPr>
          <p:cNvPr id="139" name="Google Shape;139;p10" descr="preencoded.png"/>
          <p:cNvPicPr preferRelativeResize="0"/>
          <p:nvPr/>
        </p:nvPicPr>
        <p:blipFill rotWithShape="1">
          <a:blip r:embed="rId5">
            <a:alphaModFix/>
          </a:blip>
          <a:srcRect/>
          <a:stretch/>
        </p:blipFill>
        <p:spPr>
          <a:xfrm>
            <a:off x="6217920" y="1417320"/>
            <a:ext cx="2834640" cy="3474720"/>
          </a:xfrm>
          <a:prstGeom prst="rect">
            <a:avLst/>
          </a:prstGeom>
          <a:noFill/>
          <a:ln>
            <a:noFill/>
          </a:ln>
        </p:spPr>
      </p:pic>
      <p:sp>
        <p:nvSpPr>
          <p:cNvPr id="140" name="Google Shape;140;p10"/>
          <p:cNvSpPr/>
          <p:nvPr/>
        </p:nvSpPr>
        <p:spPr>
          <a:xfrm>
            <a:off x="6217920" y="4846320"/>
            <a:ext cx="283464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Supplier Registration</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F3D"/>
        </a:solidFill>
        <a:effectLst/>
      </p:bgPr>
    </p:bg>
    <p:spTree>
      <p:nvGrpSpPr>
        <p:cNvPr id="1" name="Shape 145"/>
        <p:cNvGrpSpPr/>
        <p:nvPr/>
      </p:nvGrpSpPr>
      <p:grpSpPr>
        <a:xfrm>
          <a:off x="0" y="0"/>
          <a:ext cx="0" cy="0"/>
          <a:chOff x="0" y="0"/>
          <a:chExt cx="0" cy="0"/>
        </a:xfrm>
      </p:grpSpPr>
      <p:sp>
        <p:nvSpPr>
          <p:cNvPr id="146" name="Google Shape;146;p11"/>
          <p:cNvSpPr/>
          <p:nvPr/>
        </p:nvSpPr>
        <p:spPr>
          <a:xfrm>
            <a:off x="0" y="0"/>
            <a:ext cx="164592" cy="51435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a:off x="411480" y="1645920"/>
            <a:ext cx="832104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a:solidFill>
                  <a:srgbClr val="FFFFFF"/>
                </a:solidFill>
                <a:latin typeface="Calibri"/>
                <a:ea typeface="Calibri"/>
                <a:cs typeface="Calibri"/>
                <a:sym typeface="Calibri"/>
              </a:rPr>
              <a:t>e) Architecture</a:t>
            </a:r>
            <a:endParaRPr sz="4000" b="0" i="0" u="none" strike="noStrike" cap="none">
              <a:solidFill>
                <a:schemeClr val="dk1"/>
              </a:solidFill>
              <a:latin typeface="Calibri"/>
              <a:ea typeface="Calibri"/>
              <a:cs typeface="Calibri"/>
              <a:sym typeface="Calibri"/>
            </a:endParaRPr>
          </a:p>
        </p:txBody>
      </p:sp>
      <p:sp>
        <p:nvSpPr>
          <p:cNvPr id="148" name="Google Shape;148;p11"/>
          <p:cNvSpPr/>
          <p:nvPr/>
        </p:nvSpPr>
        <p:spPr>
          <a:xfrm>
            <a:off x="411480" y="2834640"/>
            <a:ext cx="8321040" cy="6400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4B8A6"/>
              </a:buClr>
              <a:buSzPts val="1800"/>
              <a:buFont typeface="Calibri"/>
              <a:buNone/>
            </a:pPr>
            <a:r>
              <a:rPr lang="en-US" sz="1800" b="0" i="0" u="none" strike="noStrike" cap="none">
                <a:solidFill>
                  <a:srgbClr val="14B8A6"/>
                </a:solidFill>
                <a:latin typeface="Calibri"/>
                <a:ea typeface="Calibri"/>
                <a:cs typeface="Calibri"/>
                <a:sym typeface="Calibri"/>
              </a:rPr>
              <a:t>MVC Pattern — React · Node.js/Express · MySQL</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3"/>
        <p:cNvGrpSpPr/>
        <p:nvPr/>
      </p:nvGrpSpPr>
      <p:grpSpPr>
        <a:xfrm>
          <a:off x="0" y="0"/>
          <a:ext cx="0" cy="0"/>
          <a:chOff x="0" y="0"/>
          <a:chExt cx="0" cy="0"/>
        </a:xfrm>
      </p:grpSpPr>
      <p:sp>
        <p:nvSpPr>
          <p:cNvPr id="154" name="Google Shape;154;p12"/>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2"/>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156" name="Google Shape;156;p12"/>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e) Architecture — MVC Pattern</a:t>
            </a:r>
            <a:endParaRPr sz="2400" b="0" i="0" u="none" strike="noStrike" cap="none">
              <a:solidFill>
                <a:schemeClr val="dk1"/>
              </a:solidFill>
              <a:latin typeface="Calibri"/>
              <a:ea typeface="Calibri"/>
              <a:cs typeface="Calibri"/>
              <a:sym typeface="Calibri"/>
            </a:endParaRPr>
          </a:p>
        </p:txBody>
      </p:sp>
      <p:pic>
        <p:nvPicPr>
          <p:cNvPr id="157" name="Google Shape;157;p12" descr="preencoded.png"/>
          <p:cNvPicPr preferRelativeResize="0"/>
          <p:nvPr/>
        </p:nvPicPr>
        <p:blipFill rotWithShape="1">
          <a:blip r:embed="rId3">
            <a:alphaModFix/>
          </a:blip>
          <a:srcRect/>
          <a:stretch/>
        </p:blipFill>
        <p:spPr>
          <a:xfrm>
            <a:off x="228600" y="1417320"/>
            <a:ext cx="4251960" cy="3474720"/>
          </a:xfrm>
          <a:prstGeom prst="rect">
            <a:avLst/>
          </a:prstGeom>
          <a:noFill/>
          <a:ln>
            <a:noFill/>
          </a:ln>
        </p:spPr>
      </p:pic>
      <p:sp>
        <p:nvSpPr>
          <p:cNvPr id="158" name="Google Shape;158;p12"/>
          <p:cNvSpPr/>
          <p:nvPr/>
        </p:nvSpPr>
        <p:spPr>
          <a:xfrm>
            <a:off x="228600" y="4846320"/>
            <a:ext cx="425196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Architecture Overview</a:t>
            </a:r>
            <a:endParaRPr sz="1000" b="0" i="0" u="none" strike="noStrike" cap="none">
              <a:solidFill>
                <a:schemeClr val="dk1"/>
              </a:solidFill>
              <a:latin typeface="Calibri"/>
              <a:ea typeface="Calibri"/>
              <a:cs typeface="Calibri"/>
              <a:sym typeface="Calibri"/>
            </a:endParaRPr>
          </a:p>
        </p:txBody>
      </p:sp>
      <p:pic>
        <p:nvPicPr>
          <p:cNvPr id="159" name="Google Shape;159;p12" descr="preencoded.png"/>
          <p:cNvPicPr preferRelativeResize="0"/>
          <p:nvPr/>
        </p:nvPicPr>
        <p:blipFill rotWithShape="1">
          <a:blip r:embed="rId4">
            <a:alphaModFix/>
          </a:blip>
          <a:srcRect/>
          <a:stretch/>
        </p:blipFill>
        <p:spPr>
          <a:xfrm>
            <a:off x="4663440" y="1417320"/>
            <a:ext cx="4251960" cy="3474720"/>
          </a:xfrm>
          <a:prstGeom prst="rect">
            <a:avLst/>
          </a:prstGeom>
          <a:noFill/>
          <a:ln>
            <a:noFill/>
          </a:ln>
        </p:spPr>
      </p:pic>
      <p:sp>
        <p:nvSpPr>
          <p:cNvPr id="160" name="Google Shape;160;p12"/>
          <p:cNvSpPr/>
          <p:nvPr/>
        </p:nvSpPr>
        <p:spPr>
          <a:xfrm>
            <a:off x="4663440" y="4846320"/>
            <a:ext cx="425196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Architecture — Detailed View</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5"/>
        <p:cNvGrpSpPr/>
        <p:nvPr/>
      </p:nvGrpSpPr>
      <p:grpSpPr>
        <a:xfrm>
          <a:off x="0" y="0"/>
          <a:ext cx="0" cy="0"/>
          <a:chOff x="0" y="0"/>
          <a:chExt cx="0" cy="0"/>
        </a:xfrm>
      </p:grpSpPr>
      <p:sp>
        <p:nvSpPr>
          <p:cNvPr id="166" name="Google Shape;166;p13"/>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3"/>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168" name="Google Shape;168;p13"/>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e) Architecture — Three-Tier MVC</a:t>
            </a:r>
            <a:endParaRPr sz="2400" b="0" i="0" u="none" strike="noStrike" cap="none">
              <a:solidFill>
                <a:schemeClr val="dk1"/>
              </a:solidFill>
              <a:latin typeface="Calibri"/>
              <a:ea typeface="Calibri"/>
              <a:cs typeface="Calibri"/>
              <a:sym typeface="Calibri"/>
            </a:endParaRPr>
          </a:p>
        </p:txBody>
      </p:sp>
      <p:sp>
        <p:nvSpPr>
          <p:cNvPr id="169" name="Google Shape;169;p13"/>
          <p:cNvSpPr/>
          <p:nvPr/>
        </p:nvSpPr>
        <p:spPr>
          <a:xfrm>
            <a:off x="274320" y="1463040"/>
            <a:ext cx="8595360" cy="1005840"/>
          </a:xfrm>
          <a:prstGeom prst="rect">
            <a:avLst/>
          </a:prstGeom>
          <a:solidFill>
            <a:srgbClr val="F8FAFC"/>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3"/>
          <p:cNvSpPr/>
          <p:nvPr/>
        </p:nvSpPr>
        <p:spPr>
          <a:xfrm>
            <a:off x="274320" y="1463040"/>
            <a:ext cx="1737360" cy="100584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3"/>
          <p:cNvSpPr/>
          <p:nvPr/>
        </p:nvSpPr>
        <p:spPr>
          <a:xfrm>
            <a:off x="274320" y="1463040"/>
            <a:ext cx="173736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Frontend</a:t>
            </a:r>
            <a:endParaRPr sz="1500" b="0" i="0" u="none" strike="noStrike" cap="none">
              <a:solidFill>
                <a:schemeClr val="dk1"/>
              </a:solidFill>
              <a:latin typeface="Calibri"/>
              <a:ea typeface="Calibri"/>
              <a:cs typeface="Calibri"/>
              <a:sym typeface="Calibri"/>
            </a:endParaRPr>
          </a:p>
        </p:txBody>
      </p:sp>
      <p:sp>
        <p:nvSpPr>
          <p:cNvPr id="172" name="Google Shape;172;p13"/>
          <p:cNvSpPr/>
          <p:nvPr/>
        </p:nvSpPr>
        <p:spPr>
          <a:xfrm>
            <a:off x="2148840" y="1572768"/>
            <a:ext cx="6583680" cy="7863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React (Vite) SPA · React Router  · Protected routes · Role-based UI rendering</a:t>
            </a:r>
            <a:endParaRPr sz="1200" b="0" i="0" u="none" strike="noStrike" cap="none">
              <a:solidFill>
                <a:schemeClr val="dk1"/>
              </a:solidFill>
              <a:latin typeface="Calibri"/>
              <a:ea typeface="Calibri"/>
              <a:cs typeface="Calibri"/>
              <a:sym typeface="Calibri"/>
            </a:endParaRPr>
          </a:p>
        </p:txBody>
      </p:sp>
      <p:sp>
        <p:nvSpPr>
          <p:cNvPr id="173" name="Google Shape;173;p13"/>
          <p:cNvSpPr/>
          <p:nvPr/>
        </p:nvSpPr>
        <p:spPr>
          <a:xfrm>
            <a:off x="868680" y="2468880"/>
            <a:ext cx="18288" cy="164592"/>
          </a:xfrm>
          <a:prstGeom prst="rect">
            <a:avLst/>
          </a:prstGeom>
          <a:solidFill>
            <a:srgbClr val="CBD5E1"/>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3"/>
          <p:cNvSpPr/>
          <p:nvPr/>
        </p:nvSpPr>
        <p:spPr>
          <a:xfrm>
            <a:off x="685800" y="2468880"/>
            <a:ext cx="36576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BD5E1"/>
              </a:buClr>
              <a:buSzPts val="900"/>
              <a:buFont typeface="Calibri"/>
              <a:buNone/>
            </a:pPr>
            <a:r>
              <a:rPr lang="en-US" sz="900" b="0" i="0" u="none" strike="noStrike" cap="none">
                <a:solidFill>
                  <a:srgbClr val="CBD5E1"/>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175" name="Google Shape;175;p13"/>
          <p:cNvSpPr/>
          <p:nvPr/>
        </p:nvSpPr>
        <p:spPr>
          <a:xfrm>
            <a:off x="274320" y="2651760"/>
            <a:ext cx="8595360" cy="1005840"/>
          </a:xfrm>
          <a:prstGeom prst="rect">
            <a:avLst/>
          </a:prstGeom>
          <a:solidFill>
            <a:srgbClr val="F8FAFC"/>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3"/>
          <p:cNvSpPr/>
          <p:nvPr/>
        </p:nvSpPr>
        <p:spPr>
          <a:xfrm>
            <a:off x="274320" y="2651760"/>
            <a:ext cx="1737360" cy="100584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3"/>
          <p:cNvSpPr/>
          <p:nvPr/>
        </p:nvSpPr>
        <p:spPr>
          <a:xfrm>
            <a:off x="274320" y="2651760"/>
            <a:ext cx="173736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Backend</a:t>
            </a:r>
            <a:endParaRPr sz="1500" b="0" i="0" u="none" strike="noStrike" cap="none">
              <a:solidFill>
                <a:schemeClr val="dk1"/>
              </a:solidFill>
              <a:latin typeface="Calibri"/>
              <a:ea typeface="Calibri"/>
              <a:cs typeface="Calibri"/>
              <a:sym typeface="Calibri"/>
            </a:endParaRPr>
          </a:p>
        </p:txBody>
      </p:sp>
      <p:sp>
        <p:nvSpPr>
          <p:cNvPr id="178" name="Google Shape;178;p13"/>
          <p:cNvSpPr/>
          <p:nvPr/>
        </p:nvSpPr>
        <p:spPr>
          <a:xfrm>
            <a:off x="2148840" y="2761488"/>
            <a:ext cx="6583680" cy="7863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Node.js · Express MVC · controllers / queries / routes · JWT middleware · BusinessID isolation</a:t>
            </a:r>
            <a:endParaRPr sz="1200" b="0" i="0" u="none" strike="noStrike" cap="none">
              <a:solidFill>
                <a:schemeClr val="dk1"/>
              </a:solidFill>
              <a:latin typeface="Calibri"/>
              <a:ea typeface="Calibri"/>
              <a:cs typeface="Calibri"/>
              <a:sym typeface="Calibri"/>
            </a:endParaRPr>
          </a:p>
        </p:txBody>
      </p:sp>
      <p:sp>
        <p:nvSpPr>
          <p:cNvPr id="179" name="Google Shape;179;p13"/>
          <p:cNvSpPr/>
          <p:nvPr/>
        </p:nvSpPr>
        <p:spPr>
          <a:xfrm>
            <a:off x="868680" y="3657600"/>
            <a:ext cx="18288" cy="164592"/>
          </a:xfrm>
          <a:prstGeom prst="rect">
            <a:avLst/>
          </a:prstGeom>
          <a:solidFill>
            <a:srgbClr val="CBD5E1"/>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3"/>
          <p:cNvSpPr/>
          <p:nvPr/>
        </p:nvSpPr>
        <p:spPr>
          <a:xfrm>
            <a:off x="685800" y="3657600"/>
            <a:ext cx="36576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BD5E1"/>
              </a:buClr>
              <a:buSzPts val="900"/>
              <a:buFont typeface="Calibri"/>
              <a:buNone/>
            </a:pPr>
            <a:r>
              <a:rPr lang="en-US" sz="900" b="0" i="0" u="none" strike="noStrike" cap="none">
                <a:solidFill>
                  <a:srgbClr val="CBD5E1"/>
                </a:solidFill>
                <a:latin typeface="Calibri"/>
                <a:ea typeface="Calibri"/>
                <a:cs typeface="Calibri"/>
                <a:sym typeface="Calibri"/>
              </a:rPr>
              <a:t>▼</a:t>
            </a:r>
            <a:endParaRPr sz="900" b="0" i="0" u="none" strike="noStrike" cap="none">
              <a:solidFill>
                <a:schemeClr val="dk1"/>
              </a:solidFill>
              <a:latin typeface="Calibri"/>
              <a:ea typeface="Calibri"/>
              <a:cs typeface="Calibri"/>
              <a:sym typeface="Calibri"/>
            </a:endParaRPr>
          </a:p>
        </p:txBody>
      </p:sp>
      <p:sp>
        <p:nvSpPr>
          <p:cNvPr id="181" name="Google Shape;181;p13"/>
          <p:cNvSpPr/>
          <p:nvPr/>
        </p:nvSpPr>
        <p:spPr>
          <a:xfrm>
            <a:off x="274320" y="3840480"/>
            <a:ext cx="8595360" cy="1005840"/>
          </a:xfrm>
          <a:prstGeom prst="rect">
            <a:avLst/>
          </a:prstGeom>
          <a:solidFill>
            <a:srgbClr val="F8FAFC"/>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3"/>
          <p:cNvSpPr/>
          <p:nvPr/>
        </p:nvSpPr>
        <p:spPr>
          <a:xfrm>
            <a:off x="274320" y="3840480"/>
            <a:ext cx="1737360" cy="1005840"/>
          </a:xfrm>
          <a:prstGeom prst="rect">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3"/>
          <p:cNvSpPr/>
          <p:nvPr/>
        </p:nvSpPr>
        <p:spPr>
          <a:xfrm>
            <a:off x="274320" y="3840480"/>
            <a:ext cx="1737360" cy="1005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Database</a:t>
            </a:r>
            <a:endParaRPr sz="1500" b="0" i="0" u="none" strike="noStrike" cap="none">
              <a:solidFill>
                <a:schemeClr val="dk1"/>
              </a:solidFill>
              <a:latin typeface="Calibri"/>
              <a:ea typeface="Calibri"/>
              <a:cs typeface="Calibri"/>
              <a:sym typeface="Calibri"/>
            </a:endParaRPr>
          </a:p>
        </p:txBody>
      </p:sp>
      <p:sp>
        <p:nvSpPr>
          <p:cNvPr id="184" name="Google Shape;184;p13"/>
          <p:cNvSpPr/>
          <p:nvPr/>
        </p:nvSpPr>
        <p:spPr>
          <a:xfrm>
            <a:off x="2148840" y="3950208"/>
            <a:ext cx="6583680" cy="7863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MySQL · 20-table normalized schema · Soft-deletes · ENUM status fields · SQL Views (vw_CurrentStock, vw_LowStockAlerts, vw_ProfitLoss)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F3D"/>
        </a:solidFill>
        <a:effectLst/>
      </p:bgPr>
    </p:bg>
    <p:spTree>
      <p:nvGrpSpPr>
        <p:cNvPr id="1" name="Shape 189"/>
        <p:cNvGrpSpPr/>
        <p:nvPr/>
      </p:nvGrpSpPr>
      <p:grpSpPr>
        <a:xfrm>
          <a:off x="0" y="0"/>
          <a:ext cx="0" cy="0"/>
          <a:chOff x="0" y="0"/>
          <a:chExt cx="0" cy="0"/>
        </a:xfrm>
      </p:grpSpPr>
      <p:sp>
        <p:nvSpPr>
          <p:cNvPr id="190" name="Google Shape;190;p14"/>
          <p:cNvSpPr/>
          <p:nvPr/>
        </p:nvSpPr>
        <p:spPr>
          <a:xfrm>
            <a:off x="0" y="0"/>
            <a:ext cx="164592" cy="51435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4"/>
          <p:cNvSpPr/>
          <p:nvPr/>
        </p:nvSpPr>
        <p:spPr>
          <a:xfrm>
            <a:off x="411480" y="1645920"/>
            <a:ext cx="832104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a:solidFill>
                  <a:srgbClr val="FFFFFF"/>
                </a:solidFill>
                <a:latin typeface="Calibri"/>
                <a:ea typeface="Calibri"/>
                <a:cs typeface="Calibri"/>
                <a:sym typeface="Calibri"/>
              </a:rPr>
              <a:t>f) Actual Implementation Screenshots</a:t>
            </a:r>
            <a:endParaRPr sz="4000" b="0" i="0" u="none" strike="noStrike" cap="none">
              <a:solidFill>
                <a:schemeClr val="dk1"/>
              </a:solidFill>
              <a:latin typeface="Calibri"/>
              <a:ea typeface="Calibri"/>
              <a:cs typeface="Calibri"/>
              <a:sym typeface="Calibri"/>
            </a:endParaRPr>
          </a:p>
        </p:txBody>
      </p:sp>
      <p:sp>
        <p:nvSpPr>
          <p:cNvPr id="192" name="Google Shape;192;p14"/>
          <p:cNvSpPr/>
          <p:nvPr/>
        </p:nvSpPr>
        <p:spPr>
          <a:xfrm>
            <a:off x="411480" y="2834640"/>
            <a:ext cx="8321040" cy="6400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4B8A6"/>
              </a:buClr>
              <a:buSzPts val="1800"/>
              <a:buFont typeface="Calibri"/>
              <a:buNone/>
            </a:pPr>
            <a:r>
              <a:rPr lang="en-US" sz="1800" b="0" i="0" u="none" strike="noStrike" cap="none">
                <a:solidFill>
                  <a:srgbClr val="14B8A6"/>
                </a:solidFill>
                <a:latin typeface="Calibri"/>
                <a:ea typeface="Calibri"/>
                <a:cs typeface="Calibri"/>
                <a:sym typeface="Calibri"/>
              </a:rPr>
              <a:t>CoreChain — Working System</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7"/>
        <p:cNvGrpSpPr/>
        <p:nvPr/>
      </p:nvGrpSpPr>
      <p:grpSpPr>
        <a:xfrm>
          <a:off x="0" y="0"/>
          <a:ext cx="0" cy="0"/>
          <a:chOff x="0" y="0"/>
          <a:chExt cx="0" cy="0"/>
        </a:xfrm>
      </p:grpSpPr>
      <p:sp>
        <p:nvSpPr>
          <p:cNvPr id="198" name="Google Shape;198;p15"/>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5"/>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200" name="Google Shape;200;p15"/>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f) Implementation — Dashboard &amp; Products</a:t>
            </a:r>
            <a:endParaRPr sz="2400" b="0" i="0" u="none" strike="noStrike" cap="none">
              <a:solidFill>
                <a:schemeClr val="dk1"/>
              </a:solidFill>
              <a:latin typeface="Calibri"/>
              <a:ea typeface="Calibri"/>
              <a:cs typeface="Calibri"/>
              <a:sym typeface="Calibri"/>
            </a:endParaRPr>
          </a:p>
        </p:txBody>
      </p:sp>
      <p:pic>
        <p:nvPicPr>
          <p:cNvPr id="201" name="Google Shape;201;p15" descr="preencoded.png"/>
          <p:cNvPicPr preferRelativeResize="0"/>
          <p:nvPr/>
        </p:nvPicPr>
        <p:blipFill rotWithShape="1">
          <a:blip r:embed="rId3">
            <a:alphaModFix/>
          </a:blip>
          <a:srcRect/>
          <a:stretch/>
        </p:blipFill>
        <p:spPr>
          <a:xfrm>
            <a:off x="228600" y="1417320"/>
            <a:ext cx="4251960" cy="2468880"/>
          </a:xfrm>
          <a:prstGeom prst="rect">
            <a:avLst/>
          </a:prstGeom>
          <a:noFill/>
          <a:ln>
            <a:noFill/>
          </a:ln>
        </p:spPr>
      </p:pic>
      <p:sp>
        <p:nvSpPr>
          <p:cNvPr id="202" name="Google Shape;202;p15"/>
          <p:cNvSpPr/>
          <p:nvPr/>
        </p:nvSpPr>
        <p:spPr>
          <a:xfrm>
            <a:off x="228600" y="3913632"/>
            <a:ext cx="425196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Overview Dashboard — real-time business snapshot</a:t>
            </a:r>
            <a:endParaRPr sz="1000" b="0" i="0" u="none" strike="noStrike" cap="none">
              <a:solidFill>
                <a:schemeClr val="dk1"/>
              </a:solidFill>
              <a:latin typeface="Calibri"/>
              <a:ea typeface="Calibri"/>
              <a:cs typeface="Calibri"/>
              <a:sym typeface="Calibri"/>
            </a:endParaRPr>
          </a:p>
        </p:txBody>
      </p:sp>
      <p:pic>
        <p:nvPicPr>
          <p:cNvPr id="203" name="Google Shape;203;p15" descr="preencoded.png"/>
          <p:cNvPicPr preferRelativeResize="0"/>
          <p:nvPr/>
        </p:nvPicPr>
        <p:blipFill rotWithShape="1">
          <a:blip r:embed="rId4">
            <a:alphaModFix/>
          </a:blip>
          <a:srcRect/>
          <a:stretch/>
        </p:blipFill>
        <p:spPr>
          <a:xfrm>
            <a:off x="4663440" y="1417320"/>
            <a:ext cx="4251960" cy="2468880"/>
          </a:xfrm>
          <a:prstGeom prst="rect">
            <a:avLst/>
          </a:prstGeom>
          <a:noFill/>
          <a:ln>
            <a:noFill/>
          </a:ln>
        </p:spPr>
      </p:pic>
      <p:sp>
        <p:nvSpPr>
          <p:cNvPr id="204" name="Google Shape;204;p15"/>
          <p:cNvSpPr/>
          <p:nvPr/>
        </p:nvSpPr>
        <p:spPr>
          <a:xfrm>
            <a:off x="4663440" y="3913632"/>
            <a:ext cx="425196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Products &amp; Categories — catalog with SKU and pricing</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9"/>
        <p:cNvGrpSpPr/>
        <p:nvPr/>
      </p:nvGrpSpPr>
      <p:grpSpPr>
        <a:xfrm>
          <a:off x="0" y="0"/>
          <a:ext cx="0" cy="0"/>
          <a:chOff x="0" y="0"/>
          <a:chExt cx="0" cy="0"/>
        </a:xfrm>
      </p:grpSpPr>
      <p:sp>
        <p:nvSpPr>
          <p:cNvPr id="210" name="Google Shape;210;p16"/>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6"/>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212" name="Google Shape;212;p16"/>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f) Implementation — Purchase Orders &amp; Inventory</a:t>
            </a:r>
            <a:endParaRPr sz="2400" b="0" i="0" u="none" strike="noStrike" cap="none">
              <a:solidFill>
                <a:schemeClr val="dk1"/>
              </a:solidFill>
              <a:latin typeface="Calibri"/>
              <a:ea typeface="Calibri"/>
              <a:cs typeface="Calibri"/>
              <a:sym typeface="Calibri"/>
            </a:endParaRPr>
          </a:p>
        </p:txBody>
      </p:sp>
      <p:pic>
        <p:nvPicPr>
          <p:cNvPr id="213" name="Google Shape;213;p16" descr="preencoded.png"/>
          <p:cNvPicPr preferRelativeResize="0"/>
          <p:nvPr/>
        </p:nvPicPr>
        <p:blipFill rotWithShape="1">
          <a:blip r:embed="rId3">
            <a:alphaModFix/>
          </a:blip>
          <a:srcRect/>
          <a:stretch/>
        </p:blipFill>
        <p:spPr>
          <a:xfrm>
            <a:off x="228600" y="1417320"/>
            <a:ext cx="4251960" cy="2468880"/>
          </a:xfrm>
          <a:prstGeom prst="rect">
            <a:avLst/>
          </a:prstGeom>
          <a:noFill/>
          <a:ln>
            <a:noFill/>
          </a:ln>
        </p:spPr>
      </p:pic>
      <p:sp>
        <p:nvSpPr>
          <p:cNvPr id="214" name="Google Shape;214;p16"/>
          <p:cNvSpPr/>
          <p:nvPr/>
        </p:nvSpPr>
        <p:spPr>
          <a:xfrm>
            <a:off x="228600" y="3913632"/>
            <a:ext cx="425196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Purchase Orders — PO-0001 pending, status/filter tabs</a:t>
            </a:r>
            <a:endParaRPr sz="1000" b="0" i="0" u="none" strike="noStrike" cap="none">
              <a:solidFill>
                <a:schemeClr val="dk1"/>
              </a:solidFill>
              <a:latin typeface="Calibri"/>
              <a:ea typeface="Calibri"/>
              <a:cs typeface="Calibri"/>
              <a:sym typeface="Calibri"/>
            </a:endParaRPr>
          </a:p>
        </p:txBody>
      </p:sp>
      <p:pic>
        <p:nvPicPr>
          <p:cNvPr id="215" name="Google Shape;215;p16" descr="preencoded.png"/>
          <p:cNvPicPr preferRelativeResize="0"/>
          <p:nvPr/>
        </p:nvPicPr>
        <p:blipFill rotWithShape="1">
          <a:blip r:embed="rId4">
            <a:alphaModFix/>
          </a:blip>
          <a:srcRect/>
          <a:stretch/>
        </p:blipFill>
        <p:spPr>
          <a:xfrm>
            <a:off x="4663440" y="1417320"/>
            <a:ext cx="4251960" cy="2468880"/>
          </a:xfrm>
          <a:prstGeom prst="rect">
            <a:avLst/>
          </a:prstGeom>
          <a:noFill/>
          <a:ln>
            <a:noFill/>
          </a:ln>
        </p:spPr>
      </p:pic>
      <p:sp>
        <p:nvSpPr>
          <p:cNvPr id="216" name="Google Shape;216;p16"/>
          <p:cNvSpPr/>
          <p:nvPr/>
        </p:nvSpPr>
        <p:spPr>
          <a:xfrm>
            <a:off x="4663440" y="3913632"/>
            <a:ext cx="425196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Inventory — Low Stock badge, Adjust &amp; Transfer actions</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1"/>
        <p:cNvGrpSpPr/>
        <p:nvPr/>
      </p:nvGrpSpPr>
      <p:grpSpPr>
        <a:xfrm>
          <a:off x="0" y="0"/>
          <a:ext cx="0" cy="0"/>
          <a:chOff x="0" y="0"/>
          <a:chExt cx="0" cy="0"/>
        </a:xfrm>
      </p:grpSpPr>
      <p:sp>
        <p:nvSpPr>
          <p:cNvPr id="222" name="Google Shape;222;p17"/>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7"/>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224" name="Google Shape;224;p17"/>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f) Implementation — Employees &amp; Audit Logs</a:t>
            </a:r>
            <a:endParaRPr sz="2400" b="0" i="0" u="none" strike="noStrike" cap="none">
              <a:solidFill>
                <a:schemeClr val="dk1"/>
              </a:solidFill>
              <a:latin typeface="Calibri"/>
              <a:ea typeface="Calibri"/>
              <a:cs typeface="Calibri"/>
              <a:sym typeface="Calibri"/>
            </a:endParaRPr>
          </a:p>
        </p:txBody>
      </p:sp>
      <p:pic>
        <p:nvPicPr>
          <p:cNvPr id="225" name="Google Shape;225;p17" descr="preencoded.png"/>
          <p:cNvPicPr preferRelativeResize="0"/>
          <p:nvPr/>
        </p:nvPicPr>
        <p:blipFill rotWithShape="1">
          <a:blip r:embed="rId3">
            <a:alphaModFix/>
          </a:blip>
          <a:srcRect/>
          <a:stretch/>
        </p:blipFill>
        <p:spPr>
          <a:xfrm>
            <a:off x="228600" y="1417320"/>
            <a:ext cx="4251960" cy="2468880"/>
          </a:xfrm>
          <a:prstGeom prst="rect">
            <a:avLst/>
          </a:prstGeom>
          <a:noFill/>
          <a:ln>
            <a:noFill/>
          </a:ln>
        </p:spPr>
      </p:pic>
      <p:sp>
        <p:nvSpPr>
          <p:cNvPr id="226" name="Google Shape;226;p17"/>
          <p:cNvSpPr/>
          <p:nvPr/>
        </p:nvSpPr>
        <p:spPr>
          <a:xfrm>
            <a:off x="228600" y="3913632"/>
            <a:ext cx="425196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Employees — team with Owner &amp; Procurement Officer roles</a:t>
            </a:r>
            <a:endParaRPr sz="1000" b="0" i="0" u="none" strike="noStrike" cap="none">
              <a:solidFill>
                <a:schemeClr val="dk1"/>
              </a:solidFill>
              <a:latin typeface="Calibri"/>
              <a:ea typeface="Calibri"/>
              <a:cs typeface="Calibri"/>
              <a:sym typeface="Calibri"/>
            </a:endParaRPr>
          </a:p>
        </p:txBody>
      </p:sp>
      <p:pic>
        <p:nvPicPr>
          <p:cNvPr id="227" name="Google Shape;227;p17" descr="preencoded.png"/>
          <p:cNvPicPr preferRelativeResize="0"/>
          <p:nvPr/>
        </p:nvPicPr>
        <p:blipFill rotWithShape="1">
          <a:blip r:embed="rId4">
            <a:alphaModFix/>
          </a:blip>
          <a:srcRect/>
          <a:stretch/>
        </p:blipFill>
        <p:spPr>
          <a:xfrm>
            <a:off x="4663440" y="1417320"/>
            <a:ext cx="4251960" cy="2468880"/>
          </a:xfrm>
          <a:prstGeom prst="rect">
            <a:avLst/>
          </a:prstGeom>
          <a:noFill/>
          <a:ln>
            <a:noFill/>
          </a:ln>
        </p:spPr>
      </p:pic>
      <p:sp>
        <p:nvSpPr>
          <p:cNvPr id="228" name="Google Shape;228;p17"/>
          <p:cNvSpPr/>
          <p:nvPr/>
        </p:nvSpPr>
        <p:spPr>
          <a:xfrm>
            <a:off x="4663440" y="3913632"/>
            <a:ext cx="425196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Audit Logs — 13 entries, full activity trail, CSV export</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3"/>
        <p:cNvGrpSpPr/>
        <p:nvPr/>
      </p:nvGrpSpPr>
      <p:grpSpPr>
        <a:xfrm>
          <a:off x="0" y="0"/>
          <a:ext cx="0" cy="0"/>
          <a:chOff x="0" y="0"/>
          <a:chExt cx="0" cy="0"/>
        </a:xfrm>
      </p:grpSpPr>
      <p:sp>
        <p:nvSpPr>
          <p:cNvPr id="234" name="Google Shape;234;p18"/>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8"/>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236" name="Google Shape;236;p18"/>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g) Work Division Between Group Members</a:t>
            </a:r>
            <a:endParaRPr sz="2400" b="0" i="0" u="none" strike="noStrike" cap="none">
              <a:solidFill>
                <a:schemeClr val="dk1"/>
              </a:solidFill>
              <a:latin typeface="Calibri"/>
              <a:ea typeface="Calibri"/>
              <a:cs typeface="Calibri"/>
              <a:sym typeface="Calibri"/>
            </a:endParaRPr>
          </a:p>
        </p:txBody>
      </p:sp>
      <p:sp>
        <p:nvSpPr>
          <p:cNvPr id="237" name="Google Shape;237;p18"/>
          <p:cNvSpPr/>
          <p:nvPr/>
        </p:nvSpPr>
        <p:spPr>
          <a:xfrm>
            <a:off x="228600" y="1417320"/>
            <a:ext cx="2788920" cy="3520440"/>
          </a:xfrm>
          <a:prstGeom prst="rect">
            <a:avLst/>
          </a:prstGeom>
          <a:solidFill>
            <a:srgbClr val="F0F4F8"/>
          </a:solidFill>
          <a:ln w="12700" cap="flat" cmpd="sng">
            <a:solidFill>
              <a:srgbClr val="CBD5E1"/>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8"/>
          <p:cNvSpPr/>
          <p:nvPr/>
        </p:nvSpPr>
        <p:spPr>
          <a:xfrm>
            <a:off x="228600" y="1417320"/>
            <a:ext cx="2788920" cy="64008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8"/>
          <p:cNvSpPr/>
          <p:nvPr/>
        </p:nvSpPr>
        <p:spPr>
          <a:xfrm>
            <a:off x="320040" y="1444752"/>
            <a:ext cx="260604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Hamza Sheikh</a:t>
            </a:r>
            <a:endParaRPr sz="1200" b="0" i="0" u="none" strike="noStrike" cap="none">
              <a:solidFill>
                <a:schemeClr val="dk1"/>
              </a:solidFill>
              <a:latin typeface="Calibri"/>
              <a:ea typeface="Calibri"/>
              <a:cs typeface="Calibri"/>
              <a:sym typeface="Calibri"/>
            </a:endParaRPr>
          </a:p>
        </p:txBody>
      </p:sp>
      <p:sp>
        <p:nvSpPr>
          <p:cNvPr id="240" name="Google Shape;240;p18"/>
          <p:cNvSpPr/>
          <p:nvPr/>
        </p:nvSpPr>
        <p:spPr>
          <a:xfrm>
            <a:off x="320040" y="1792224"/>
            <a:ext cx="26060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0F2FE"/>
              </a:buClr>
              <a:buSzPts val="950"/>
              <a:buFont typeface="Calibri"/>
              <a:buNone/>
            </a:pPr>
            <a:r>
              <a:rPr lang="en-US" sz="950" b="0" i="0" u="none" strike="noStrike" cap="none">
                <a:solidFill>
                  <a:srgbClr val="E0F2FE"/>
                </a:solidFill>
                <a:latin typeface="Calibri"/>
                <a:ea typeface="Calibri"/>
                <a:cs typeface="Calibri"/>
                <a:sym typeface="Calibri"/>
              </a:rPr>
              <a:t>L24-2500  ·  Backend Lead</a:t>
            </a:r>
            <a:endParaRPr sz="950" b="0" i="0" u="none" strike="noStrike" cap="none">
              <a:solidFill>
                <a:schemeClr val="dk1"/>
              </a:solidFill>
              <a:latin typeface="Calibri"/>
              <a:ea typeface="Calibri"/>
              <a:cs typeface="Calibri"/>
              <a:sym typeface="Calibri"/>
            </a:endParaRPr>
          </a:p>
        </p:txBody>
      </p:sp>
      <p:sp>
        <p:nvSpPr>
          <p:cNvPr id="241" name="Google Shape;241;p18"/>
          <p:cNvSpPr/>
          <p:nvPr/>
        </p:nvSpPr>
        <p:spPr>
          <a:xfrm>
            <a:off x="338328" y="2148840"/>
            <a:ext cx="2606040" cy="265176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20-table database schema &amp; ERD design</a:t>
            </a:r>
            <a:endParaRPr sz="105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Major backend structure &amp; API architecture</a:t>
            </a:r>
            <a:endParaRPr sz="105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SQL Views: vw_CurrentStock, vw_LowStockAlerts, vw_ProfitLoss</a:t>
            </a:r>
            <a:endParaRPr sz="105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Core module backend implementation</a:t>
            </a:r>
            <a:endParaRPr sz="105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Inventory backend (Sprint 3)</a:t>
            </a:r>
            <a:endParaRPr sz="1050" b="0" i="0" u="none" strike="noStrike" cap="none">
              <a:solidFill>
                <a:schemeClr val="dk1"/>
              </a:solidFill>
              <a:latin typeface="Calibri"/>
              <a:ea typeface="Calibri"/>
              <a:cs typeface="Calibri"/>
              <a:sym typeface="Calibri"/>
            </a:endParaRPr>
          </a:p>
        </p:txBody>
      </p:sp>
      <p:sp>
        <p:nvSpPr>
          <p:cNvPr id="242" name="Google Shape;242;p18"/>
          <p:cNvSpPr/>
          <p:nvPr/>
        </p:nvSpPr>
        <p:spPr>
          <a:xfrm>
            <a:off x="3154680" y="1417320"/>
            <a:ext cx="2788920" cy="3520440"/>
          </a:xfrm>
          <a:prstGeom prst="rect">
            <a:avLst/>
          </a:prstGeom>
          <a:solidFill>
            <a:srgbClr val="F0F4F8"/>
          </a:solidFill>
          <a:ln w="12700" cap="flat" cmpd="sng">
            <a:solidFill>
              <a:srgbClr val="CBD5E1"/>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8"/>
          <p:cNvSpPr/>
          <p:nvPr/>
        </p:nvSpPr>
        <p:spPr>
          <a:xfrm>
            <a:off x="3154680" y="1417320"/>
            <a:ext cx="2788920" cy="6400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8"/>
          <p:cNvSpPr/>
          <p:nvPr/>
        </p:nvSpPr>
        <p:spPr>
          <a:xfrm>
            <a:off x="3246120" y="1444752"/>
            <a:ext cx="260604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Muhammad Asjad</a:t>
            </a:r>
            <a:endParaRPr sz="1200" b="0" i="0" u="none" strike="noStrike" cap="none">
              <a:solidFill>
                <a:schemeClr val="dk1"/>
              </a:solidFill>
              <a:latin typeface="Calibri"/>
              <a:ea typeface="Calibri"/>
              <a:cs typeface="Calibri"/>
              <a:sym typeface="Calibri"/>
            </a:endParaRPr>
          </a:p>
        </p:txBody>
      </p:sp>
      <p:sp>
        <p:nvSpPr>
          <p:cNvPr id="245" name="Google Shape;245;p18"/>
          <p:cNvSpPr/>
          <p:nvPr/>
        </p:nvSpPr>
        <p:spPr>
          <a:xfrm>
            <a:off x="3246120" y="1792224"/>
            <a:ext cx="26060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0F2FE"/>
              </a:buClr>
              <a:buSzPts val="950"/>
              <a:buFont typeface="Calibri"/>
              <a:buNone/>
            </a:pPr>
            <a:r>
              <a:rPr lang="en-US" sz="950" b="0" i="0" u="none" strike="noStrike" cap="none">
                <a:solidFill>
                  <a:srgbClr val="E0F2FE"/>
                </a:solidFill>
                <a:latin typeface="Calibri"/>
                <a:ea typeface="Calibri"/>
                <a:cs typeface="Calibri"/>
                <a:sym typeface="Calibri"/>
              </a:rPr>
              <a:t>L24-2570  ·  Frontend Lead &amp; QA</a:t>
            </a:r>
            <a:endParaRPr sz="950" b="0" i="0" u="none" strike="noStrike" cap="none">
              <a:solidFill>
                <a:schemeClr val="dk1"/>
              </a:solidFill>
              <a:latin typeface="Calibri"/>
              <a:ea typeface="Calibri"/>
              <a:cs typeface="Calibri"/>
              <a:sym typeface="Calibri"/>
            </a:endParaRPr>
          </a:p>
        </p:txBody>
      </p:sp>
      <p:sp>
        <p:nvSpPr>
          <p:cNvPr id="246" name="Google Shape;246;p18"/>
          <p:cNvSpPr/>
          <p:nvPr/>
        </p:nvSpPr>
        <p:spPr>
          <a:xfrm>
            <a:off x="3264408" y="2148840"/>
            <a:ext cx="2606040" cy="265176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Major frontend (all modules — React)</a:t>
            </a:r>
            <a:endParaRPr sz="105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System testing &amp; quality improvement</a:t>
            </a:r>
            <a:endParaRPr sz="105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Bug fixing &amp; UX polish</a:t>
            </a:r>
            <a:endParaRPr sz="105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Auth bug resolution</a:t>
            </a:r>
            <a:endParaRPr sz="105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Products, Warehouses, Inventory, Employees, Orders UI</a:t>
            </a:r>
            <a:endParaRPr sz="1050" b="0" i="0" u="none" strike="noStrike" cap="none">
              <a:solidFill>
                <a:schemeClr val="dk1"/>
              </a:solidFill>
              <a:latin typeface="Calibri"/>
              <a:ea typeface="Calibri"/>
              <a:cs typeface="Calibri"/>
              <a:sym typeface="Calibri"/>
            </a:endParaRPr>
          </a:p>
        </p:txBody>
      </p:sp>
      <p:sp>
        <p:nvSpPr>
          <p:cNvPr id="247" name="Google Shape;247;p18"/>
          <p:cNvSpPr/>
          <p:nvPr/>
        </p:nvSpPr>
        <p:spPr>
          <a:xfrm>
            <a:off x="6080760" y="1417320"/>
            <a:ext cx="2788920" cy="3520440"/>
          </a:xfrm>
          <a:prstGeom prst="rect">
            <a:avLst/>
          </a:prstGeom>
          <a:solidFill>
            <a:srgbClr val="F0F4F8"/>
          </a:solidFill>
          <a:ln w="12700" cap="flat" cmpd="sng">
            <a:solidFill>
              <a:srgbClr val="CBD5E1"/>
            </a:solidFill>
            <a:prstDash val="solid"/>
            <a:round/>
            <a:headEnd type="none" w="sm" len="sm"/>
            <a:tailEnd type="none" w="sm" len="sm"/>
          </a:ln>
          <a:effectLst>
            <a:outerShdw blurRad="635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8"/>
          <p:cNvSpPr/>
          <p:nvPr/>
        </p:nvSpPr>
        <p:spPr>
          <a:xfrm>
            <a:off x="6080760" y="1417320"/>
            <a:ext cx="2788920" cy="640080"/>
          </a:xfrm>
          <a:prstGeom prst="rect">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8"/>
          <p:cNvSpPr/>
          <p:nvPr/>
        </p:nvSpPr>
        <p:spPr>
          <a:xfrm>
            <a:off x="6172200" y="1444752"/>
            <a:ext cx="260604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M. Abuzar Rizwan</a:t>
            </a:r>
            <a:endParaRPr sz="1200" b="0" i="0" u="none" strike="noStrike" cap="none">
              <a:solidFill>
                <a:schemeClr val="dk1"/>
              </a:solidFill>
              <a:latin typeface="Calibri"/>
              <a:ea typeface="Calibri"/>
              <a:cs typeface="Calibri"/>
              <a:sym typeface="Calibri"/>
            </a:endParaRPr>
          </a:p>
        </p:txBody>
      </p:sp>
      <p:sp>
        <p:nvSpPr>
          <p:cNvPr id="250" name="Google Shape;250;p18"/>
          <p:cNvSpPr/>
          <p:nvPr/>
        </p:nvSpPr>
        <p:spPr>
          <a:xfrm>
            <a:off x="6172200" y="1792224"/>
            <a:ext cx="26060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0F2FE"/>
              </a:buClr>
              <a:buSzPts val="950"/>
              <a:buFont typeface="Calibri"/>
              <a:buNone/>
            </a:pPr>
            <a:r>
              <a:rPr lang="en-US" sz="950" b="0" i="0" u="none" strike="noStrike" cap="none">
                <a:solidFill>
                  <a:srgbClr val="E0F2FE"/>
                </a:solidFill>
                <a:latin typeface="Calibri"/>
                <a:ea typeface="Calibri"/>
                <a:cs typeface="Calibri"/>
                <a:sym typeface="Calibri"/>
              </a:rPr>
              <a:t>L24-2535  ·  Scrum Manager &amp; Docs</a:t>
            </a:r>
            <a:endParaRPr sz="950" b="0" i="0" u="none" strike="noStrike" cap="none">
              <a:solidFill>
                <a:schemeClr val="dk1"/>
              </a:solidFill>
              <a:latin typeface="Calibri"/>
              <a:ea typeface="Calibri"/>
              <a:cs typeface="Calibri"/>
              <a:sym typeface="Calibri"/>
            </a:endParaRPr>
          </a:p>
        </p:txBody>
      </p:sp>
      <p:sp>
        <p:nvSpPr>
          <p:cNvPr id="251" name="Google Shape;251;p18"/>
          <p:cNvSpPr/>
          <p:nvPr/>
        </p:nvSpPr>
        <p:spPr>
          <a:xfrm>
            <a:off x="6190488" y="2148840"/>
            <a:ext cx="2606040" cy="265176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Documentation &amp; final report</a:t>
            </a:r>
            <a:endParaRPr sz="105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Scrum management &amp; Trello board</a:t>
            </a:r>
            <a:endParaRPr sz="105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Requirement engineering (all sprints)</a:t>
            </a:r>
            <a:endParaRPr sz="105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User stories &amp; structured specifications</a:t>
            </a:r>
            <a:endParaRPr sz="1050" b="0" i="0" u="none" strike="noStrike" cap="none">
              <a:solidFill>
                <a:schemeClr val="dk1"/>
              </a:solidFill>
              <a:latin typeface="Calibri"/>
              <a:ea typeface="Calibri"/>
              <a:cs typeface="Calibri"/>
              <a:sym typeface="Calibri"/>
            </a:endParaRPr>
          </a:p>
          <a:p>
            <a:pPr marL="342900" marR="0" lvl="0" indent="-342900" algn="l" rtl="0">
              <a:spcBef>
                <a:spcPts val="300"/>
              </a:spcBef>
              <a:spcAft>
                <a:spcPts val="0"/>
              </a:spcAft>
              <a:buClr>
                <a:srgbClr val="1E293B"/>
              </a:buClr>
              <a:buSzPts val="1050"/>
              <a:buFont typeface="Calibri"/>
              <a:buChar char="•"/>
            </a:pPr>
            <a:r>
              <a:rPr lang="en-US" sz="1050" b="0" i="0" u="none" strike="noStrike" cap="none">
                <a:solidFill>
                  <a:srgbClr val="1E293B"/>
                </a:solidFill>
                <a:latin typeface="Calibri"/>
                <a:ea typeface="Calibri"/>
                <a:cs typeface="Calibri"/>
                <a:sym typeface="Calibri"/>
              </a:rPr>
              <a:t>Supporting backend development</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6"/>
        <p:cNvGrpSpPr/>
        <p:nvPr/>
      </p:nvGrpSpPr>
      <p:grpSpPr>
        <a:xfrm>
          <a:off x="0" y="0"/>
          <a:ext cx="0" cy="0"/>
          <a:chOff x="0" y="0"/>
          <a:chExt cx="0" cy="0"/>
        </a:xfrm>
      </p:grpSpPr>
      <p:sp>
        <p:nvSpPr>
          <p:cNvPr id="257" name="Google Shape;257;p19"/>
          <p:cNvSpPr/>
          <p:nvPr/>
        </p:nvSpPr>
        <p:spPr>
          <a:xfrm>
            <a:off x="0" y="0"/>
            <a:ext cx="9144000" cy="59436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274320" y="0"/>
            <a:ext cx="22860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300"/>
              <a:buFont typeface="Calibri"/>
              <a:buNone/>
            </a:pPr>
            <a:r>
              <a:rPr lang="en-US" sz="1300" b="1" i="0" u="none" strike="noStrike" cap="none">
                <a:solidFill>
                  <a:srgbClr val="14B8A6"/>
                </a:solidFill>
                <a:latin typeface="Calibri"/>
                <a:ea typeface="Calibri"/>
                <a:cs typeface="Calibri"/>
                <a:sym typeface="Calibri"/>
              </a:rPr>
              <a:t>CoreChain</a:t>
            </a:r>
            <a:endParaRPr sz="1300" b="0" i="0" u="none" strike="noStrike" cap="none">
              <a:solidFill>
                <a:schemeClr val="dk1"/>
              </a:solidFill>
              <a:latin typeface="Calibri"/>
              <a:ea typeface="Calibri"/>
              <a:cs typeface="Calibri"/>
              <a:sym typeface="Calibri"/>
            </a:endParaRPr>
          </a:p>
        </p:txBody>
      </p:sp>
      <p:sp>
        <p:nvSpPr>
          <p:cNvPr id="259" name="Google Shape;259;p19"/>
          <p:cNvSpPr/>
          <p:nvPr/>
        </p:nvSpPr>
        <p:spPr>
          <a:xfrm>
            <a:off x="274320" y="685800"/>
            <a:ext cx="859536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2400"/>
              <a:buFont typeface="Calibri"/>
              <a:buNone/>
            </a:pPr>
            <a:r>
              <a:rPr lang="en-US" sz="2400" b="1" i="0" u="none" strike="noStrike" cap="none">
                <a:solidFill>
                  <a:srgbClr val="1B3A6B"/>
                </a:solidFill>
                <a:latin typeface="Calibri"/>
                <a:ea typeface="Calibri"/>
                <a:cs typeface="Calibri"/>
                <a:sym typeface="Calibri"/>
              </a:rPr>
              <a:t>h) Lessons Learnt</a:t>
            </a:r>
            <a:endParaRPr sz="2400" b="0" i="0" u="none" strike="noStrike" cap="none">
              <a:solidFill>
                <a:schemeClr val="dk1"/>
              </a:solidFill>
              <a:latin typeface="Calibri"/>
              <a:ea typeface="Calibri"/>
              <a:cs typeface="Calibri"/>
              <a:sym typeface="Calibri"/>
            </a:endParaRPr>
          </a:p>
        </p:txBody>
      </p:sp>
      <p:sp>
        <p:nvSpPr>
          <p:cNvPr id="260" name="Google Shape;260;p19"/>
          <p:cNvSpPr/>
          <p:nvPr/>
        </p:nvSpPr>
        <p:spPr>
          <a:xfrm>
            <a:off x="228600" y="1417320"/>
            <a:ext cx="2788920" cy="155448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228600" y="1417320"/>
            <a:ext cx="64008" cy="15544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393192" y="1508760"/>
            <a:ext cx="2560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50"/>
              <a:buFont typeface="Calibri"/>
              <a:buNone/>
            </a:pPr>
            <a:r>
              <a:rPr lang="en-US" sz="1150" b="1" i="0" u="none" strike="noStrike" cap="none">
                <a:solidFill>
                  <a:srgbClr val="1B3A6B"/>
                </a:solidFill>
                <a:latin typeface="Calibri"/>
                <a:ea typeface="Calibri"/>
                <a:cs typeface="Calibri"/>
                <a:sym typeface="Calibri"/>
              </a:rPr>
              <a:t>Server-Side Isolation</a:t>
            </a:r>
            <a:endParaRPr sz="1150" b="0" i="0" u="none" strike="noStrike" cap="none">
              <a:solidFill>
                <a:schemeClr val="dk1"/>
              </a:solidFill>
              <a:latin typeface="Calibri"/>
              <a:ea typeface="Calibri"/>
              <a:cs typeface="Calibri"/>
              <a:sym typeface="Calibri"/>
            </a:endParaRPr>
          </a:p>
        </p:txBody>
      </p:sp>
      <p:sp>
        <p:nvSpPr>
          <p:cNvPr id="263" name="Google Shape;263;p19"/>
          <p:cNvSpPr/>
          <p:nvPr/>
        </p:nvSpPr>
        <p:spPr>
          <a:xfrm>
            <a:off x="393192" y="1856232"/>
            <a:ext cx="256032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BusinessID must come from JWT, never from client. Enforced on every query — zero cross-tenant leaks.</a:t>
            </a:r>
            <a:endParaRPr sz="1050" b="0" i="0" u="none" strike="noStrike" cap="none">
              <a:solidFill>
                <a:schemeClr val="dk1"/>
              </a:solidFill>
              <a:latin typeface="Calibri"/>
              <a:ea typeface="Calibri"/>
              <a:cs typeface="Calibri"/>
              <a:sym typeface="Calibri"/>
            </a:endParaRPr>
          </a:p>
        </p:txBody>
      </p:sp>
      <p:sp>
        <p:nvSpPr>
          <p:cNvPr id="264" name="Google Shape;264;p19"/>
          <p:cNvSpPr/>
          <p:nvPr/>
        </p:nvSpPr>
        <p:spPr>
          <a:xfrm>
            <a:off x="3154680" y="1417320"/>
            <a:ext cx="2788920" cy="155448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3154680" y="1417320"/>
            <a:ext cx="64008" cy="155448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3319272" y="1508760"/>
            <a:ext cx="2560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50"/>
              <a:buFont typeface="Calibri"/>
              <a:buNone/>
            </a:pPr>
            <a:r>
              <a:rPr lang="en-US" sz="1150" b="1" i="0" u="none" strike="noStrike" cap="none">
                <a:solidFill>
                  <a:srgbClr val="1B3A6B"/>
                </a:solidFill>
                <a:latin typeface="Calibri"/>
                <a:ea typeface="Calibri"/>
                <a:cs typeface="Calibri"/>
                <a:sym typeface="Calibri"/>
              </a:rPr>
              <a:t>Atomic Inventory Updates</a:t>
            </a:r>
            <a:endParaRPr sz="1150" b="0" i="0" u="none" strike="noStrike" cap="none">
              <a:solidFill>
                <a:schemeClr val="dk1"/>
              </a:solidFill>
              <a:latin typeface="Calibri"/>
              <a:ea typeface="Calibri"/>
              <a:cs typeface="Calibri"/>
              <a:sym typeface="Calibri"/>
            </a:endParaRPr>
          </a:p>
        </p:txBody>
      </p:sp>
      <p:sp>
        <p:nvSpPr>
          <p:cNvPr id="267" name="Google Shape;267;p19"/>
          <p:cNvSpPr/>
          <p:nvPr/>
        </p:nvSpPr>
        <p:spPr>
          <a:xfrm>
            <a:off x="3319272" y="1856232"/>
            <a:ext cx="256032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PO Received = stock up. SO Confirmed = stock down. Must succeed or fail together — no partial updates.</a:t>
            </a:r>
            <a:endParaRPr sz="1050" b="0" i="0" u="none" strike="noStrike" cap="none">
              <a:solidFill>
                <a:schemeClr val="dk1"/>
              </a:solidFill>
              <a:latin typeface="Calibri"/>
              <a:ea typeface="Calibri"/>
              <a:cs typeface="Calibri"/>
              <a:sym typeface="Calibri"/>
            </a:endParaRPr>
          </a:p>
        </p:txBody>
      </p:sp>
      <p:sp>
        <p:nvSpPr>
          <p:cNvPr id="268" name="Google Shape;268;p19"/>
          <p:cNvSpPr/>
          <p:nvPr/>
        </p:nvSpPr>
        <p:spPr>
          <a:xfrm>
            <a:off x="6080760" y="1417320"/>
            <a:ext cx="2788920" cy="155448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6080760" y="1417320"/>
            <a:ext cx="64008" cy="155448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6245352" y="1508760"/>
            <a:ext cx="2560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50"/>
              <a:buFont typeface="Calibri"/>
              <a:buNone/>
            </a:pPr>
            <a:r>
              <a:rPr lang="en-US" sz="1150" b="1" i="0" u="none" strike="noStrike" cap="none">
                <a:solidFill>
                  <a:srgbClr val="1B3A6B"/>
                </a:solidFill>
                <a:latin typeface="Calibri"/>
                <a:ea typeface="Calibri"/>
                <a:cs typeface="Calibri"/>
                <a:sym typeface="Calibri"/>
              </a:rPr>
              <a:t>Soft-Deletes Over Hard</a:t>
            </a:r>
            <a:endParaRPr sz="1150" b="0" i="0" u="none" strike="noStrike" cap="none">
              <a:solidFill>
                <a:schemeClr val="dk1"/>
              </a:solidFill>
              <a:latin typeface="Calibri"/>
              <a:ea typeface="Calibri"/>
              <a:cs typeface="Calibri"/>
              <a:sym typeface="Calibri"/>
            </a:endParaRPr>
          </a:p>
        </p:txBody>
      </p:sp>
      <p:sp>
        <p:nvSpPr>
          <p:cNvPr id="271" name="Google Shape;271;p19"/>
          <p:cNvSpPr/>
          <p:nvPr/>
        </p:nvSpPr>
        <p:spPr>
          <a:xfrm>
            <a:off x="6245352" y="1856232"/>
            <a:ext cx="256032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IsActive=FALSE preserves historical PO, supplier &amp; staff records. Hard-deletes would break audit trails.</a:t>
            </a:r>
            <a:endParaRPr sz="1050" b="0" i="0" u="none" strike="noStrike" cap="none">
              <a:solidFill>
                <a:schemeClr val="dk1"/>
              </a:solidFill>
              <a:latin typeface="Calibri"/>
              <a:ea typeface="Calibri"/>
              <a:cs typeface="Calibri"/>
              <a:sym typeface="Calibri"/>
            </a:endParaRPr>
          </a:p>
        </p:txBody>
      </p:sp>
      <p:sp>
        <p:nvSpPr>
          <p:cNvPr id="272" name="Google Shape;272;p19"/>
          <p:cNvSpPr/>
          <p:nvPr/>
        </p:nvSpPr>
        <p:spPr>
          <a:xfrm>
            <a:off x="228600" y="3154680"/>
            <a:ext cx="2788920" cy="155448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228600" y="3154680"/>
            <a:ext cx="64008" cy="1554480"/>
          </a:xfrm>
          <a:prstGeom prst="rect">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a:off x="393192" y="3246120"/>
            <a:ext cx="2560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50"/>
              <a:buFont typeface="Calibri"/>
              <a:buNone/>
            </a:pPr>
            <a:r>
              <a:rPr lang="en-US" sz="1150" b="1" i="0" u="none" strike="noStrike" cap="none">
                <a:solidFill>
                  <a:srgbClr val="1B3A6B"/>
                </a:solidFill>
                <a:latin typeface="Calibri"/>
                <a:ea typeface="Calibri"/>
                <a:cs typeface="Calibri"/>
                <a:sym typeface="Calibri"/>
              </a:rPr>
              <a:t>SQL Views Save Frontend</a:t>
            </a:r>
            <a:endParaRPr sz="1150" b="0" i="0" u="none" strike="noStrike" cap="none">
              <a:solidFill>
                <a:schemeClr val="dk1"/>
              </a:solidFill>
              <a:latin typeface="Calibri"/>
              <a:ea typeface="Calibri"/>
              <a:cs typeface="Calibri"/>
              <a:sym typeface="Calibri"/>
            </a:endParaRPr>
          </a:p>
        </p:txBody>
      </p:sp>
      <p:sp>
        <p:nvSpPr>
          <p:cNvPr id="275" name="Google Shape;275;p19"/>
          <p:cNvSpPr/>
          <p:nvPr/>
        </p:nvSpPr>
        <p:spPr>
          <a:xfrm>
            <a:off x="393192" y="3593592"/>
            <a:ext cx="256032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vw_CurrentStock and vw_LowStockAlerts centralized complex joins — cleaner code, faster dashboard loads.</a:t>
            </a:r>
            <a:endParaRPr sz="1050" b="0" i="0" u="none" strike="noStrike" cap="none">
              <a:solidFill>
                <a:schemeClr val="dk1"/>
              </a:solidFill>
              <a:latin typeface="Calibri"/>
              <a:ea typeface="Calibri"/>
              <a:cs typeface="Calibri"/>
              <a:sym typeface="Calibri"/>
            </a:endParaRPr>
          </a:p>
        </p:txBody>
      </p:sp>
      <p:sp>
        <p:nvSpPr>
          <p:cNvPr id="276" name="Google Shape;276;p19"/>
          <p:cNvSpPr/>
          <p:nvPr/>
        </p:nvSpPr>
        <p:spPr>
          <a:xfrm>
            <a:off x="3154680" y="3154680"/>
            <a:ext cx="2788920" cy="155448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9"/>
          <p:cNvSpPr/>
          <p:nvPr/>
        </p:nvSpPr>
        <p:spPr>
          <a:xfrm>
            <a:off x="3154680" y="3154680"/>
            <a:ext cx="64008" cy="1554480"/>
          </a:xfrm>
          <a:prstGeom prst="rect">
            <a:avLst/>
          </a:prstGeom>
          <a:solidFill>
            <a:srgbClr val="0891B2"/>
          </a:solidFill>
          <a:ln w="12700" cap="flat" cmpd="sng">
            <a:solidFill>
              <a:srgbClr val="0891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9"/>
          <p:cNvSpPr/>
          <p:nvPr/>
        </p:nvSpPr>
        <p:spPr>
          <a:xfrm>
            <a:off x="3319272" y="3246120"/>
            <a:ext cx="2560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50"/>
              <a:buFont typeface="Calibri"/>
              <a:buNone/>
            </a:pPr>
            <a:r>
              <a:rPr lang="en-US" sz="1150" b="1" i="0" u="none" strike="noStrike" cap="none">
                <a:solidFill>
                  <a:srgbClr val="1B3A6B"/>
                </a:solidFill>
                <a:latin typeface="Calibri"/>
                <a:ea typeface="Calibri"/>
                <a:cs typeface="Calibri"/>
                <a:sym typeface="Calibri"/>
              </a:rPr>
              <a:t>Sprint Planning Works</a:t>
            </a:r>
            <a:endParaRPr sz="1150" b="0" i="0" u="none" strike="noStrike" cap="none">
              <a:solidFill>
                <a:schemeClr val="dk1"/>
              </a:solidFill>
              <a:latin typeface="Calibri"/>
              <a:ea typeface="Calibri"/>
              <a:cs typeface="Calibri"/>
              <a:sym typeface="Calibri"/>
            </a:endParaRPr>
          </a:p>
        </p:txBody>
      </p:sp>
      <p:sp>
        <p:nvSpPr>
          <p:cNvPr id="279" name="Google Shape;279;p19"/>
          <p:cNvSpPr/>
          <p:nvPr/>
        </p:nvSpPr>
        <p:spPr>
          <a:xfrm>
            <a:off x="3319272" y="3593592"/>
            <a:ext cx="256032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Product module slipped Sprint 1 → Sprint 2. Identified early, replanned, delivered without disrupting velocity.</a:t>
            </a:r>
            <a:endParaRPr sz="1050" b="0" i="0" u="none" strike="noStrike" cap="none">
              <a:solidFill>
                <a:schemeClr val="dk1"/>
              </a:solidFill>
              <a:latin typeface="Calibri"/>
              <a:ea typeface="Calibri"/>
              <a:cs typeface="Calibri"/>
              <a:sym typeface="Calibri"/>
            </a:endParaRPr>
          </a:p>
        </p:txBody>
      </p:sp>
      <p:sp>
        <p:nvSpPr>
          <p:cNvPr id="280" name="Google Shape;280;p19"/>
          <p:cNvSpPr/>
          <p:nvPr/>
        </p:nvSpPr>
        <p:spPr>
          <a:xfrm>
            <a:off x="6080760" y="3154680"/>
            <a:ext cx="2788920" cy="1554480"/>
          </a:xfrm>
          <a:prstGeom prst="rect">
            <a:avLst/>
          </a:prstGeom>
          <a:solidFill>
            <a:srgbClr val="F0F4F8"/>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p:nvPr/>
        </p:nvSpPr>
        <p:spPr>
          <a:xfrm>
            <a:off x="6080760" y="3154680"/>
            <a:ext cx="64008" cy="155448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6245352" y="3246120"/>
            <a:ext cx="2560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3A6B"/>
              </a:buClr>
              <a:buSzPts val="1150"/>
              <a:buFont typeface="Calibri"/>
              <a:buNone/>
            </a:pPr>
            <a:r>
              <a:rPr lang="en-US" sz="1150" b="1" i="0" u="none" strike="noStrike" cap="none">
                <a:solidFill>
                  <a:srgbClr val="1B3A6B"/>
                </a:solidFill>
                <a:latin typeface="Calibri"/>
                <a:ea typeface="Calibri"/>
                <a:cs typeface="Calibri"/>
                <a:sym typeface="Calibri"/>
              </a:rPr>
              <a:t>Test Earlier Next Time</a:t>
            </a:r>
            <a:endParaRPr sz="1150" b="0" i="0" u="none" strike="noStrike" cap="none">
              <a:solidFill>
                <a:schemeClr val="dk1"/>
              </a:solidFill>
              <a:latin typeface="Calibri"/>
              <a:ea typeface="Calibri"/>
              <a:cs typeface="Calibri"/>
              <a:sym typeface="Calibri"/>
            </a:endParaRPr>
          </a:p>
        </p:txBody>
      </p:sp>
      <p:sp>
        <p:nvSpPr>
          <p:cNvPr id="283" name="Google Shape;283;p19"/>
          <p:cNvSpPr/>
          <p:nvPr/>
        </p:nvSpPr>
        <p:spPr>
          <a:xfrm>
            <a:off x="6245352" y="3593592"/>
            <a:ext cx="256032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b="0" i="0" u="none" strike="noStrike" cap="none">
                <a:solidFill>
                  <a:srgbClr val="1E293B"/>
                </a:solidFill>
                <a:latin typeface="Calibri"/>
                <a:ea typeface="Calibri"/>
                <a:cs typeface="Calibri"/>
                <a:sym typeface="Calibri"/>
              </a:rPr>
              <a:t>Integration tests in Sprint 3 caught bugs that Sprint 2 unit tests missed. Earlier = cheaper to fix.</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F3D"/>
        </a:solidFill>
        <a:effectLst/>
      </p:bgPr>
    </p:bg>
    <p:spTree>
      <p:nvGrpSpPr>
        <p:cNvPr id="1" name="Shape 288"/>
        <p:cNvGrpSpPr/>
        <p:nvPr/>
      </p:nvGrpSpPr>
      <p:grpSpPr>
        <a:xfrm>
          <a:off x="0" y="0"/>
          <a:ext cx="0" cy="0"/>
          <a:chOff x="0" y="0"/>
          <a:chExt cx="0" cy="0"/>
        </a:xfrm>
      </p:grpSpPr>
      <p:sp>
        <p:nvSpPr>
          <p:cNvPr id="289" name="Google Shape;289;p20"/>
          <p:cNvSpPr/>
          <p:nvPr/>
        </p:nvSpPr>
        <p:spPr>
          <a:xfrm>
            <a:off x="0" y="0"/>
            <a:ext cx="201168" cy="51435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0"/>
          <p:cNvSpPr/>
          <p:nvPr/>
        </p:nvSpPr>
        <p:spPr>
          <a:xfrm>
            <a:off x="201168" y="0"/>
            <a:ext cx="8942832" cy="514350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1" name="Google Shape;291;p20" descr="preencoded.png"/>
          <p:cNvPicPr preferRelativeResize="0"/>
          <p:nvPr/>
        </p:nvPicPr>
        <p:blipFill rotWithShape="1">
          <a:blip r:embed="rId3">
            <a:alphaModFix/>
          </a:blip>
          <a:srcRect/>
          <a:stretch/>
        </p:blipFill>
        <p:spPr>
          <a:xfrm>
            <a:off x="3657600" y="731520"/>
            <a:ext cx="1828800" cy="1828800"/>
          </a:xfrm>
          <a:prstGeom prst="rect">
            <a:avLst/>
          </a:prstGeom>
          <a:noFill/>
          <a:ln>
            <a:noFill/>
          </a:ln>
        </p:spPr>
      </p:pic>
      <p:sp>
        <p:nvSpPr>
          <p:cNvPr id="292" name="Google Shape;292;p20"/>
          <p:cNvSpPr/>
          <p:nvPr/>
        </p:nvSpPr>
        <p:spPr>
          <a:xfrm>
            <a:off x="914400" y="2743200"/>
            <a:ext cx="7315200" cy="8229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4600"/>
              <a:buFont typeface="Calibri"/>
              <a:buNone/>
            </a:pPr>
            <a:r>
              <a:rPr lang="en-US" sz="4600" b="1" i="0" u="none" strike="noStrike" cap="none">
                <a:solidFill>
                  <a:srgbClr val="FFFFFF"/>
                </a:solidFill>
                <a:latin typeface="Calibri"/>
                <a:ea typeface="Calibri"/>
                <a:cs typeface="Calibri"/>
                <a:sym typeface="Calibri"/>
              </a:rPr>
              <a:t>Thank You</a:t>
            </a:r>
            <a:endParaRPr sz="4600" b="0" i="0" u="none" strike="noStrike" cap="none">
              <a:solidFill>
                <a:schemeClr val="dk1"/>
              </a:solidFill>
              <a:latin typeface="Calibri"/>
              <a:ea typeface="Calibri"/>
              <a:cs typeface="Calibri"/>
              <a:sym typeface="Calibri"/>
            </a:endParaRPr>
          </a:p>
        </p:txBody>
      </p:sp>
      <p:sp>
        <p:nvSpPr>
          <p:cNvPr id="293" name="Google Shape;293;p20"/>
          <p:cNvSpPr/>
          <p:nvPr/>
        </p:nvSpPr>
        <p:spPr>
          <a:xfrm>
            <a:off x="914400" y="3611880"/>
            <a:ext cx="731520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4B8A6"/>
              </a:buClr>
              <a:buSzPts val="1500"/>
              <a:buFont typeface="Calibri"/>
              <a:buNone/>
            </a:pPr>
            <a:r>
              <a:rPr lang="en-US" sz="1500" b="0" i="0" u="none" strike="noStrike" cap="none">
                <a:solidFill>
                  <a:srgbClr val="14B8A6"/>
                </a:solidFill>
                <a:latin typeface="Calibri"/>
                <a:ea typeface="Calibri"/>
                <a:cs typeface="Calibri"/>
                <a:sym typeface="Calibri"/>
              </a:rPr>
              <a:t>CoreChain — B2B Inventory &amp; Supply Chain Management</a:t>
            </a:r>
            <a:endParaRPr sz="1500" b="0" i="0" u="none" strike="noStrike" cap="none">
              <a:solidFill>
                <a:schemeClr val="dk1"/>
              </a:solidFill>
              <a:latin typeface="Calibri"/>
              <a:ea typeface="Calibri"/>
              <a:cs typeface="Calibri"/>
              <a:sym typeface="Calibri"/>
            </a:endParaRPr>
          </a:p>
        </p:txBody>
      </p:sp>
      <p:sp>
        <p:nvSpPr>
          <p:cNvPr id="294" name="Google Shape;294;p20"/>
          <p:cNvSpPr/>
          <p:nvPr/>
        </p:nvSpPr>
        <p:spPr>
          <a:xfrm>
            <a:off x="914400" y="4114800"/>
            <a:ext cx="731520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CBD5E1"/>
              </a:buClr>
              <a:buSzPts val="1200"/>
              <a:buFont typeface="Calibri"/>
              <a:buNone/>
            </a:pPr>
            <a:r>
              <a:rPr lang="en-US" sz="1200" b="0" i="0" u="none" strike="noStrike" cap="none">
                <a:solidFill>
                  <a:srgbClr val="CBD5E1"/>
                </a:solidFill>
                <a:latin typeface="Calibri"/>
                <a:ea typeface="Calibri"/>
                <a:cs typeface="Calibri"/>
                <a:sym typeface="Calibri"/>
              </a:rPr>
              <a:t>Muhammad Asjad  ·  Hamza Sheikh  ·  M. Abuzar Rizwan</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874</Words>
  <Application>Microsoft Office PowerPoint</Application>
  <PresentationFormat>On-screen Show (16:9)</PresentationFormat>
  <Paragraphs>152</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ss</dc:creator>
  <cp:lastModifiedBy>Muhammad Asjad FAST NU LAHORE</cp:lastModifiedBy>
  <cp:revision>1</cp:revision>
  <dcterms:modified xsi:type="dcterms:W3CDTF">2026-05-03T19:56:01Z</dcterms:modified>
</cp:coreProperties>
</file>